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tagline. One sentence: Clausemap reads a contract and maps who owes what to whom, by when, and every item on the map opens the exact sentence and page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users are analysts in due diligence, contract review, compliance and consulting. A new 30-page agreement lands: they need the parties, what each one owes, and the key dates and amounts before the real review. Reading it takes an hour, a summary loses the structure, and you can't cite a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 in a text-based PDF, or open a demo. Clausemap lays out every party, obligation, date, amount and topic as one network. Types differ by shape as well as colour. Big documents open as an overview, and "Show 15 more" expands to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TechCorp Ltd.: the panel shows its other names (the Buyer, TechCorp), its 13 links, and the sentences behind them, each with a page number and "verified". Click a linked obligation, such as "pay invoices within 30 days", to jump along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"How this map was made" log from the app, shown to every user. Pages are the unit of work, so extraction runs in parallel. The verify step is what makes the map citable: a quote the model paraphrased or invented never reaches the map. Merging handles defined terms, so one company isn't three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line sits at the top of every map. Most AI tools hide what they couldn't verify. We show it, because the analyst's reputation rides on every quote they 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overview: filter by type (only parties and obligations, say), search by name (Escrow Agent), zoom and pan, and ask in plain English. Answers are grounded in the text: the quote and page come with it, and the relevant part of the map lights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judges will ask. NotebookLM already turns sources into a clickable mind map with cited answers, for free. The difference: we map relations between parties with a verified quote on every link, not a hierarchy of topics. Check NotebookLM's current features right before presenting; they change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buyer: due-diligence and contract-review teams. They review many agreements a week, and the first pass is repetitive, billable time. Per-seat pricing matches how they buy tools. The expansion features, comparing two contract versions and exporting the map with its quotes into a review memo, are what turn it into part of the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is the buyer's first question, and their security team's deal-breaker. Today: nothing stored, the model provider named on the upload screen, API keys on the server only, and a not-legal-advice line on every map. For regulated buyers, EU processing and a self-hosted option are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about limits: today it reads text-based PDFs only, and requests run synchronously, which is fine for a demo but not for a team. Before a pilot: OCR, a job queue, export and EU processing. Comparing two versions of a contract is the feature a due-diligence team would pay for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four boxes with screenshots from the Bob sessions (check each one for API keys first). Say in one sentence what Bob did best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tagline and the live link. The two demos open instantly, no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39"/>
        </a:solidFill>
      </p:bgPr>
    </p:bg>
    <p:spTree>
      <p:nvGrpSpPr>
        <p:cNvPr id="1" name=""/>
        <p:cNvGrpSpPr/>
        <p:nvPr/>
      </p:nvGrpSpPr>
      <p:grpSpPr>
        <a:xfrm>
          <a:off x="0" y="0"/>
          <a:ext cx="0" cy="0"/>
          <a:chOff x="0" y="0"/>
          <a:chExt cx="0" cy="0"/>
        </a:xfrm>
      </p:grpSpPr>
      <p:pic>
        <p:nvPicPr>
          <p:cNvPr id="2" name="Image 0" descr="A small map: two party circles linked to obligations, a date, amounts and a topic, with one link highlighted in orange">    </p:cNvPr>
          <p:cNvPicPr>
            <a:picLocks noChangeAspect="1"/>
          </p:cNvPicPr>
          <p:nvPr/>
        </p:nvPicPr>
        <p:blipFill>
          <a:blip r:embed="rId1"/>
          <a:srcRect l="0" r="0" t="0" b="0"/>
          <a:stretch/>
        </p:blipFill>
        <p:spPr>
          <a:xfrm>
            <a:off x="7937500" y="1333500"/>
            <a:ext cx="3429000" cy="4064000"/>
          </a:xfrm>
          <a:prstGeom prst="rect">
            <a:avLst/>
          </a:prstGeom>
        </p:spPr>
      </p:pic>
      <p:pic>
        <p:nvPicPr>
          <p:cNvPr id="3" name="Image 1" descr="Clausemap trig mark">    </p:cNvPr>
          <p:cNvPicPr>
            <a:picLocks noChangeAspect="1"/>
          </p:cNvPicPr>
          <p:nvPr/>
        </p:nvPicPr>
        <p:blipFill>
          <a:blip r:embed="rId2"/>
          <a:srcRect l="0" r="0" t="0" b="0"/>
          <a:stretch/>
        </p:blipFill>
        <p:spPr>
          <a:xfrm>
            <a:off x="812800" y="855960"/>
            <a:ext cx="355600" cy="304800"/>
          </a:xfrm>
          <a:prstGeom prst="rect">
            <a:avLst/>
          </a:prstGeom>
        </p:spPr>
      </p:pic>
      <p:sp>
        <p:nvSpPr>
          <p:cNvPr id="4" name="Text 0"/>
          <p:cNvSpPr/>
          <p:nvPr/>
        </p:nvSpPr>
        <p:spPr>
          <a:xfrm>
            <a:off x="1295400" y="812800"/>
            <a:ext cx="1435050" cy="416520"/>
          </a:xfrm>
          <a:prstGeom prst="rect">
            <a:avLst/>
          </a:prstGeom>
          <a:noFill/>
          <a:ln/>
        </p:spPr>
        <p:txBody>
          <a:bodyPr wrap="square" lIns="0" tIns="0" rIns="0" bIns="0" rtlCol="0" anchor="t">
            <a:normAutofit/>
          </a:bodyPr>
          <a:lstStyle/>
          <a:p>
            <a:pPr algn="l" indent="0" marL="0">
              <a:lnSpc>
                <a:spcPts val="3080"/>
              </a:lnSpc>
              <a:buNone/>
            </a:pPr>
            <a:r>
              <a:rPr lang="en-US" sz="2200" b="1" spc="-25" kern="0" dirty="0">
                <a:solidFill>
                  <a:srgbClr val="F6F3EC"/>
                </a:solidFill>
                <a:latin typeface="IBM Plex Sans" pitchFamily="34" charset="0"/>
                <a:ea typeface="IBM Plex Sans" pitchFamily="34" charset="-122"/>
                <a:cs typeface="IBM Plex Sans" pitchFamily="34" charset="-120"/>
              </a:rPr>
              <a:t>clausemap</a:t>
            </a:r>
            <a:endParaRPr lang="en-US" sz="2200" dirty="0"/>
          </a:p>
        </p:txBody>
      </p:sp>
      <p:sp>
        <p:nvSpPr>
          <p:cNvPr id="5" name="Text 1"/>
          <p:cNvSpPr/>
          <p:nvPr/>
        </p:nvSpPr>
        <p:spPr>
          <a:xfrm>
            <a:off x="812800" y="2282230"/>
            <a:ext cx="6932930" cy="1358900"/>
          </a:xfrm>
          <a:prstGeom prst="rect">
            <a:avLst/>
          </a:prstGeom>
          <a:noFill/>
          <a:ln/>
        </p:spPr>
        <p:txBody>
          <a:bodyPr wrap="square" lIns="0" tIns="0" rIns="0" bIns="0" rtlCol="0" anchor="t">
            <a:normAutofit/>
          </a:bodyPr>
          <a:lstStyle/>
          <a:p>
            <a:pPr algn="l" indent="0" marL="0">
              <a:lnSpc>
                <a:spcPts val="5250"/>
              </a:lnSpc>
              <a:buNone/>
            </a:pPr>
            <a:r>
              <a:rPr lang="en-US" sz="5000" b="1" spc="-50" kern="0" dirty="0">
                <a:solidFill>
                  <a:srgbClr val="F6F3EC"/>
                </a:solidFill>
                <a:latin typeface="IBM Plex Sans" pitchFamily="34" charset="0"/>
                <a:ea typeface="IBM Plex Sans" pitchFamily="34" charset="-122"/>
                <a:cs typeface="IBM Plex Sans" pitchFamily="34" charset="-120"/>
              </a:rPr>
              <a:t>See the whole deal.</a:t>
            </a:r>
            <a:endParaRPr lang="en-US" sz="5000" dirty="0"/>
          </a:p>
          <a:p>
            <a:pPr algn="l" indent="0" marL="0">
              <a:lnSpc>
                <a:spcPts val="5250"/>
              </a:lnSpc>
              <a:buNone/>
            </a:pPr>
            <a:r>
              <a:rPr lang="en-US" sz="5000" b="1" spc="-50" kern="0" dirty="0">
                <a:solidFill>
                  <a:srgbClr val="F6F3EC"/>
                </a:solidFill>
                <a:latin typeface="IBM Plex Sans" pitchFamily="34" charset="0"/>
                <a:ea typeface="IBM Plex Sans" pitchFamily="34" charset="-122"/>
                <a:cs typeface="IBM Plex Sans" pitchFamily="34" charset="-120"/>
              </a:rPr>
              <a:t>Cite every line.</a:t>
            </a:r>
            <a:endParaRPr lang="en-US" sz="5000" dirty="0"/>
          </a:p>
        </p:txBody>
      </p:sp>
      <p:sp>
        <p:nvSpPr>
          <p:cNvPr id="6" name="Text 2"/>
          <p:cNvSpPr/>
          <p:nvPr/>
        </p:nvSpPr>
        <p:spPr>
          <a:xfrm>
            <a:off x="812800" y="3869730"/>
            <a:ext cx="6017260" cy="90929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4CDD5"/>
                </a:solidFill>
                <a:latin typeface="IBM Plex Sans" pitchFamily="34" charset="0"/>
                <a:ea typeface="IBM Plex Sans" pitchFamily="34" charset="-122"/>
                <a:cs typeface="IBM Plex Sans" pitchFamily="34" charset="-120"/>
              </a:rPr>
              <a:t>Clausemap turns a contract into a map of who owes what to whom, by when. Every line on it is quoted verbatim from the page it came from.</a:t>
            </a:r>
            <a:endParaRPr lang="en-US" sz="1600" dirty="0"/>
          </a:p>
        </p:txBody>
      </p:sp>
      <p:sp>
        <p:nvSpPr>
          <p:cNvPr id="7"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3"/>
                </a:solidFill>
                <a:latin typeface="IBM Plex Mono" pitchFamily="34" charset="0"/>
                <a:ea typeface="IBM Plex Mono" pitchFamily="34" charset="-122"/>
                <a:cs typeface="IBM Plex Mono" pitchFamily="34" charset="-120"/>
              </a:rPr>
              <a:t>IBM Bob 2.0 hackathon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9810750" cy="1031180"/>
          </a:xfrm>
          <a:prstGeom prst="rect">
            <a:avLst/>
          </a:prstGeom>
          <a:noFill/>
          <a:ln/>
        </p:spPr>
        <p:txBody>
          <a:bodyPr wrap="square" lIns="0" tIns="0" rIns="0" bIns="0" rtlCol="0" anchor="t">
            <a:normAutofit/>
          </a:bodyPr>
          <a:lstStyle/>
          <a:p>
            <a:pPr algn="l" indent="0" marL="0">
              <a:lnSpc>
                <a:spcPts val="3960"/>
              </a:lnSpc>
              <a:buNone/>
            </a:pPr>
            <a:r>
              <a:rPr lang="en-US" sz="3600" b="1" spc="-25" kern="0" dirty="0">
                <a:solidFill>
                  <a:srgbClr val="1C2B39"/>
                </a:solidFill>
                <a:latin typeface="IBM Plex Sans" pitchFamily="34" charset="0"/>
                <a:ea typeface="IBM Plex Sans" pitchFamily="34" charset="-122"/>
                <a:cs typeface="IBM Plex Sans" pitchFamily="34" charset="-120"/>
              </a:rPr>
              <a:t>A 30-page agreement takes an hour to read, and you can't cite a summary.</a:t>
            </a:r>
            <a:endParaRPr lang="en-US" sz="3600" dirty="0"/>
          </a:p>
        </p:txBody>
      </p:sp>
      <p:sp>
        <p:nvSpPr>
          <p:cNvPr id="3" name="Shape 1"/>
          <p:cNvSpPr/>
          <p:nvPr/>
        </p:nvSpPr>
        <p:spPr>
          <a:xfrm>
            <a:off x="815975" y="3617714"/>
            <a:ext cx="3380284" cy="2221111"/>
          </a:xfrm>
          <a:prstGeom prst="roundRect">
            <a:avLst>
              <a:gd name="adj" fmla="val 3288"/>
            </a:avLst>
          </a:prstGeom>
          <a:solidFill>
            <a:srgbClr val="FBF9F4"/>
          </a:solidFill>
          <a:ln w="6350">
            <a:solidFill>
              <a:srgbClr val="D8D2C4"/>
            </a:solidFill>
            <a:prstDash val="solid"/>
          </a:ln>
        </p:spPr>
      </p:sp>
      <p:sp>
        <p:nvSpPr>
          <p:cNvPr id="4" name="Text 2"/>
          <p:cNvSpPr/>
          <p:nvPr/>
        </p:nvSpPr>
        <p:spPr>
          <a:xfrm>
            <a:off x="1123950" y="3925689"/>
            <a:ext cx="28472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416"/>
                </a:solidFill>
                <a:latin typeface="IBM Plex Mono" pitchFamily="34" charset="0"/>
                <a:ea typeface="IBM Plex Mono" pitchFamily="34" charset="-122"/>
                <a:cs typeface="IBM Plex Mono" pitchFamily="34" charset="-120"/>
              </a:rPr>
              <a:t>01</a:t>
            </a:r>
            <a:endParaRPr lang="en-US" sz="1200" dirty="0"/>
          </a:p>
        </p:txBody>
      </p:sp>
      <p:sp>
        <p:nvSpPr>
          <p:cNvPr id="5" name="Text 3"/>
          <p:cNvSpPr/>
          <p:nvPr/>
        </p:nvSpPr>
        <p:spPr>
          <a:xfrm>
            <a:off x="1123950" y="4240609"/>
            <a:ext cx="284726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2B39"/>
                </a:solidFill>
                <a:latin typeface="IBM Plex Sans" pitchFamily="34" charset="0"/>
                <a:ea typeface="IBM Plex Sans" pitchFamily="34" charset="-122"/>
                <a:cs typeface="IBM Plex Sans" pitchFamily="34" charset="-120"/>
              </a:rPr>
              <a:t>Slow</a:t>
            </a:r>
            <a:endParaRPr lang="en-US" sz="2200" dirty="0"/>
          </a:p>
        </p:txBody>
      </p:sp>
      <p:sp>
        <p:nvSpPr>
          <p:cNvPr id="6" name="Text 4"/>
          <p:cNvSpPr/>
          <p:nvPr/>
        </p:nvSpPr>
        <p:spPr>
          <a:xfrm>
            <a:off x="1123950" y="4677470"/>
            <a:ext cx="284726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Reading front to back takes about an hour before the real review can start.</a:t>
            </a:r>
            <a:endParaRPr lang="en-US" sz="1600" dirty="0"/>
          </a:p>
        </p:txBody>
      </p:sp>
      <p:sp>
        <p:nvSpPr>
          <p:cNvPr id="7" name="Shape 5"/>
          <p:cNvSpPr/>
          <p:nvPr/>
        </p:nvSpPr>
        <p:spPr>
          <a:xfrm>
            <a:off x="4405809" y="3617714"/>
            <a:ext cx="3380333" cy="2221111"/>
          </a:xfrm>
          <a:prstGeom prst="roundRect">
            <a:avLst>
              <a:gd name="adj" fmla="val 3288"/>
            </a:avLst>
          </a:prstGeom>
          <a:solidFill>
            <a:srgbClr val="FBF9F4"/>
          </a:solidFill>
          <a:ln w="6350">
            <a:solidFill>
              <a:srgbClr val="D8D2C4"/>
            </a:solidFill>
            <a:prstDash val="solid"/>
          </a:ln>
        </p:spPr>
      </p:sp>
      <p:sp>
        <p:nvSpPr>
          <p:cNvPr id="8" name="Text 6"/>
          <p:cNvSpPr/>
          <p:nvPr/>
        </p:nvSpPr>
        <p:spPr>
          <a:xfrm>
            <a:off x="4713784" y="3925689"/>
            <a:ext cx="28473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416"/>
                </a:solidFill>
                <a:latin typeface="IBM Plex Mono" pitchFamily="34" charset="0"/>
                <a:ea typeface="IBM Plex Mono" pitchFamily="34" charset="-122"/>
                <a:cs typeface="IBM Plex Mono" pitchFamily="34" charset="-120"/>
              </a:rPr>
              <a:t>02</a:t>
            </a:r>
            <a:endParaRPr lang="en-US" sz="1200" dirty="0"/>
          </a:p>
        </p:txBody>
      </p:sp>
      <p:sp>
        <p:nvSpPr>
          <p:cNvPr id="9" name="Text 7"/>
          <p:cNvSpPr/>
          <p:nvPr/>
        </p:nvSpPr>
        <p:spPr>
          <a:xfrm>
            <a:off x="4713784" y="4240609"/>
            <a:ext cx="284731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2B39"/>
                </a:solidFill>
                <a:latin typeface="IBM Plex Sans" pitchFamily="34" charset="0"/>
                <a:ea typeface="IBM Plex Sans" pitchFamily="34" charset="-122"/>
                <a:cs typeface="IBM Plex Sans" pitchFamily="34" charset="-120"/>
              </a:rPr>
              <a:t>Flat</a:t>
            </a:r>
            <a:endParaRPr lang="en-US" sz="2200" dirty="0"/>
          </a:p>
        </p:txBody>
      </p:sp>
      <p:sp>
        <p:nvSpPr>
          <p:cNvPr id="10" name="Text 8"/>
          <p:cNvSpPr/>
          <p:nvPr/>
        </p:nvSpPr>
        <p:spPr>
          <a:xfrm>
            <a:off x="4713784" y="4677470"/>
            <a:ext cx="2847315"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A plain summary loses the structure: who owes what, to whom, by when.</a:t>
            </a:r>
            <a:endParaRPr lang="en-US" sz="1600" dirty="0"/>
          </a:p>
        </p:txBody>
      </p:sp>
      <p:sp>
        <p:nvSpPr>
          <p:cNvPr id="11" name="Shape 9"/>
          <p:cNvSpPr/>
          <p:nvPr/>
        </p:nvSpPr>
        <p:spPr>
          <a:xfrm>
            <a:off x="7995692" y="3617714"/>
            <a:ext cx="3380333" cy="2221111"/>
          </a:xfrm>
          <a:prstGeom prst="roundRect">
            <a:avLst>
              <a:gd name="adj" fmla="val 3288"/>
            </a:avLst>
          </a:prstGeom>
          <a:solidFill>
            <a:srgbClr val="FBF9F4"/>
          </a:solidFill>
          <a:ln w="6350">
            <a:solidFill>
              <a:srgbClr val="D8D2C4"/>
            </a:solidFill>
            <a:prstDash val="solid"/>
          </a:ln>
        </p:spPr>
      </p:sp>
      <p:sp>
        <p:nvSpPr>
          <p:cNvPr id="12" name="Text 10"/>
          <p:cNvSpPr/>
          <p:nvPr/>
        </p:nvSpPr>
        <p:spPr>
          <a:xfrm>
            <a:off x="8303667" y="3925689"/>
            <a:ext cx="28473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416"/>
                </a:solidFill>
                <a:latin typeface="IBM Plex Mono" pitchFamily="34" charset="0"/>
                <a:ea typeface="IBM Plex Mono" pitchFamily="34" charset="-122"/>
                <a:cs typeface="IBM Plex Mono" pitchFamily="34" charset="-120"/>
              </a:rPr>
              <a:t>03</a:t>
            </a:r>
            <a:endParaRPr lang="en-US" sz="1200" dirty="0"/>
          </a:p>
        </p:txBody>
      </p:sp>
      <p:sp>
        <p:nvSpPr>
          <p:cNvPr id="13" name="Text 11"/>
          <p:cNvSpPr/>
          <p:nvPr/>
        </p:nvSpPr>
        <p:spPr>
          <a:xfrm>
            <a:off x="8303667" y="4240609"/>
            <a:ext cx="284731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2B39"/>
                </a:solidFill>
                <a:latin typeface="IBM Plex Sans" pitchFamily="34" charset="0"/>
                <a:ea typeface="IBM Plex Sans" pitchFamily="34" charset="-122"/>
                <a:cs typeface="IBM Plex Sans" pitchFamily="34" charset="-120"/>
              </a:rPr>
              <a:t>Uncitable</a:t>
            </a:r>
            <a:endParaRPr lang="en-US" sz="2200" dirty="0"/>
          </a:p>
        </p:txBody>
      </p:sp>
      <p:sp>
        <p:nvSpPr>
          <p:cNvPr id="14" name="Text 12"/>
          <p:cNvSpPr/>
          <p:nvPr/>
        </p:nvSpPr>
        <p:spPr>
          <a:xfrm>
            <a:off x="8303667" y="4677470"/>
            <a:ext cx="2847315"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A reviewer has to point to the clause. A summary gives them nothing to point to.</a:t>
            </a:r>
            <a:endParaRPr lang="en-US" sz="1600" dirty="0"/>
          </a:p>
        </p:txBody>
      </p:sp>
      <p:sp>
        <p:nvSpPr>
          <p:cNvPr id="15" name="Text 13"/>
          <p:cNvSpPr/>
          <p:nvPr/>
        </p:nvSpPr>
        <p:spPr>
          <a:xfrm>
            <a:off x="812800" y="6230640"/>
            <a:ext cx="87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clausemap</a:t>
            </a:r>
            <a:endParaRPr lang="en-US" sz="1200" dirty="0"/>
          </a:p>
        </p:txBody>
      </p:sp>
      <p:sp>
        <p:nvSpPr>
          <p:cNvPr id="16" name="Text 14"/>
          <p:cNvSpPr/>
          <p:nvPr/>
        </p:nvSpPr>
        <p:spPr>
          <a:xfrm>
            <a:off x="11196290" y="623064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spc="-25" kern="0" dirty="0">
                <a:solidFill>
                  <a:srgbClr val="1C2B39"/>
                </a:solidFill>
                <a:latin typeface="IBM Plex Sans" pitchFamily="34" charset="0"/>
                <a:ea typeface="IBM Plex Sans" pitchFamily="34" charset="-122"/>
                <a:cs typeface="IBM Plex Sans" pitchFamily="34" charset="-120"/>
              </a:rPr>
              <a:t>Upload a contract. Get a map of who owes what to whom, by when.</a:t>
            </a:r>
            <a:endParaRPr lang="en-US" sz="3600" dirty="0"/>
          </a:p>
        </p:txBody>
      </p:sp>
      <p:sp>
        <p:nvSpPr>
          <p:cNvPr id="3" name="Shape 1"/>
          <p:cNvSpPr/>
          <p:nvPr/>
        </p:nvSpPr>
        <p:spPr>
          <a:xfrm>
            <a:off x="812800" y="2123380"/>
            <a:ext cx="6604000" cy="3651250"/>
          </a:xfrm>
          <a:prstGeom prst="roundRect">
            <a:avLst>
              <a:gd name="adj" fmla="val 2087"/>
            </a:avLst>
          </a:prstGeom>
          <a:solidFill>
            <a:srgbClr val="F6F3EC"/>
          </a:solidFill>
          <a:ln/>
        </p:spPr>
      </p:sp>
      <p:pic>
        <p:nvPicPr>
          <p:cNvPr id="4" name="Image 0" descr="Clausemap overview of a 20-page supply agreement: parties, obligations, dates, amounts and topics laid out as one network, with the document summary in a side panel">    </p:cNvPr>
          <p:cNvPicPr>
            <a:picLocks noChangeAspect="1"/>
          </p:cNvPicPr>
          <p:nvPr/>
        </p:nvPicPr>
        <p:blipFill>
          <a:blip r:embed="rId1"/>
          <a:srcRect l="-68" r="-68" t="0" b="0"/>
          <a:stretch/>
        </p:blipFill>
        <p:spPr>
          <a:xfrm>
            <a:off x="819150" y="2129730"/>
            <a:ext cx="6591300" cy="3638550"/>
          </a:xfrm>
          <a:prstGeom prst="roundRect">
            <a:avLst>
              <a:gd name="adj" fmla="val 1920"/>
            </a:avLst>
          </a:prstGeom>
        </p:spPr>
      </p:pic>
      <p:sp>
        <p:nvSpPr>
          <p:cNvPr id="5" name="Shape 2"/>
          <p:cNvSpPr/>
          <p:nvPr/>
        </p:nvSpPr>
        <p:spPr>
          <a:xfrm>
            <a:off x="815975" y="2126555"/>
            <a:ext cx="6597650" cy="3644900"/>
          </a:xfrm>
          <a:prstGeom prst="roundRect">
            <a:avLst>
              <a:gd name="adj" fmla="val 2003"/>
            </a:avLst>
          </a:prstGeom>
          <a:noFill/>
          <a:ln w="6350">
            <a:solidFill>
              <a:srgbClr val="B9B4A8"/>
            </a:solidFill>
            <a:prstDash val="solid"/>
          </a:ln>
        </p:spPr>
      </p:sp>
      <p:pic>
        <p:nvPicPr>
          <p:cNvPr id="6" name="Image 1" descr="Party: blue circle">    </p:cNvPr>
          <p:cNvPicPr>
            <a:picLocks noChangeAspect="1"/>
          </p:cNvPicPr>
          <p:nvPr/>
        </p:nvPicPr>
        <p:blipFill>
          <a:blip r:embed="rId2"/>
          <a:srcRect l="0" r="0" t="0" b="0"/>
          <a:stretch/>
        </p:blipFill>
        <p:spPr>
          <a:xfrm>
            <a:off x="7721600" y="2138611"/>
            <a:ext cx="254000" cy="254000"/>
          </a:xfrm>
          <a:prstGeom prst="rect">
            <a:avLst/>
          </a:prstGeom>
        </p:spPr>
      </p:pic>
      <p:sp>
        <p:nvSpPr>
          <p:cNvPr id="7" name="Text 3"/>
          <p:cNvSpPr/>
          <p:nvPr/>
        </p:nvSpPr>
        <p:spPr>
          <a:xfrm>
            <a:off x="8102600" y="2123380"/>
            <a:ext cx="98821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2B39"/>
                </a:solidFill>
                <a:latin typeface="IBM Plex Sans" pitchFamily="34" charset="0"/>
                <a:ea typeface="IBM Plex Sans" pitchFamily="34" charset="-122"/>
                <a:cs typeface="IBM Plex Sans" pitchFamily="34" charset="-120"/>
              </a:rPr>
              <a:t>Party</a:t>
            </a:r>
            <a:r>
              <a:rPr lang="en-US" sz="1600" dirty="0">
                <a:solidFill>
                  <a:srgbClr val="1C2B39"/>
                </a:solidFill>
                <a:latin typeface="IBM Plex Sans" pitchFamily="34" charset="0"/>
                <a:ea typeface="IBM Plex Sans" pitchFamily="34" charset="-122"/>
                <a:cs typeface="IBM Plex Sans" pitchFamily="34" charset="-120"/>
              </a:rPr>
              <a:t> </a:t>
            </a:r>
            <a:r>
              <a:rPr lang="en-US" sz="1600" dirty="0">
                <a:solidFill>
                  <a:srgbClr val="5B6570"/>
                </a:solidFill>
                <a:latin typeface="IBM Plex Sans" pitchFamily="34" charset="0"/>
                <a:ea typeface="IBM Plex Sans" pitchFamily="34" charset="-122"/>
                <a:cs typeface="IBM Plex Sans" pitchFamily="34" charset="-120"/>
              </a:rPr>
              <a:t>who</a:t>
            </a:r>
            <a:endParaRPr lang="en-US" sz="1600" dirty="0"/>
          </a:p>
        </p:txBody>
      </p:sp>
      <p:pic>
        <p:nvPicPr>
          <p:cNvPr id="8" name="Image 2" descr="Obligation: orange rounded square">    </p:cNvPr>
          <p:cNvPicPr>
            <a:picLocks noChangeAspect="1"/>
          </p:cNvPicPr>
          <p:nvPr/>
        </p:nvPicPr>
        <p:blipFill>
          <a:blip r:embed="rId3"/>
          <a:srcRect l="0" r="0" t="0" b="0"/>
          <a:stretch/>
        </p:blipFill>
        <p:spPr>
          <a:xfrm>
            <a:off x="7721600" y="2575471"/>
            <a:ext cx="254000" cy="254000"/>
          </a:xfrm>
          <a:prstGeom prst="rect">
            <a:avLst/>
          </a:prstGeom>
        </p:spPr>
      </p:pic>
      <p:sp>
        <p:nvSpPr>
          <p:cNvPr id="9" name="Text 4"/>
          <p:cNvSpPr/>
          <p:nvPr/>
        </p:nvSpPr>
        <p:spPr>
          <a:xfrm>
            <a:off x="8102600" y="2560241"/>
            <a:ext cx="205632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2B39"/>
                </a:solidFill>
                <a:latin typeface="IBM Plex Sans" pitchFamily="34" charset="0"/>
                <a:ea typeface="IBM Plex Sans" pitchFamily="34" charset="-122"/>
                <a:cs typeface="IBM Plex Sans" pitchFamily="34" charset="-120"/>
              </a:rPr>
              <a:t>Obligation</a:t>
            </a:r>
            <a:r>
              <a:rPr lang="en-US" sz="1600" dirty="0">
                <a:solidFill>
                  <a:srgbClr val="1C2B39"/>
                </a:solidFill>
                <a:latin typeface="IBM Plex Sans" pitchFamily="34" charset="0"/>
                <a:ea typeface="IBM Plex Sans" pitchFamily="34" charset="-122"/>
                <a:cs typeface="IBM Plex Sans" pitchFamily="34" charset="-120"/>
              </a:rPr>
              <a:t> </a:t>
            </a:r>
            <a:r>
              <a:rPr lang="en-US" sz="1600" dirty="0">
                <a:solidFill>
                  <a:srgbClr val="5B6570"/>
                </a:solidFill>
                <a:latin typeface="IBM Plex Sans" pitchFamily="34" charset="0"/>
                <a:ea typeface="IBM Plex Sans" pitchFamily="34" charset="-122"/>
                <a:cs typeface="IBM Plex Sans" pitchFamily="34" charset="-120"/>
              </a:rPr>
              <a:t>owes what</a:t>
            </a:r>
            <a:endParaRPr lang="en-US" sz="1600" dirty="0"/>
          </a:p>
        </p:txBody>
      </p:sp>
      <p:pic>
        <p:nvPicPr>
          <p:cNvPr id="10" name="Image 3" descr="Date: teal diamond">    </p:cNvPr>
          <p:cNvPicPr>
            <a:picLocks noChangeAspect="1"/>
          </p:cNvPicPr>
          <p:nvPr/>
        </p:nvPicPr>
        <p:blipFill>
          <a:blip r:embed="rId4"/>
          <a:srcRect l="0" r="0" t="0" b="0"/>
          <a:stretch/>
        </p:blipFill>
        <p:spPr>
          <a:xfrm>
            <a:off x="7721600" y="3012331"/>
            <a:ext cx="254000" cy="254000"/>
          </a:xfrm>
          <a:prstGeom prst="rect">
            <a:avLst/>
          </a:prstGeom>
        </p:spPr>
      </p:pic>
      <p:sp>
        <p:nvSpPr>
          <p:cNvPr id="11" name="Text 5"/>
          <p:cNvSpPr/>
          <p:nvPr/>
        </p:nvSpPr>
        <p:spPr>
          <a:xfrm>
            <a:off x="8102600" y="2997101"/>
            <a:ext cx="130472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2B39"/>
                </a:solidFill>
                <a:latin typeface="IBM Plex Sans" pitchFamily="34" charset="0"/>
                <a:ea typeface="IBM Plex Sans" pitchFamily="34" charset="-122"/>
                <a:cs typeface="IBM Plex Sans" pitchFamily="34" charset="-120"/>
              </a:rPr>
              <a:t>Date</a:t>
            </a:r>
            <a:r>
              <a:rPr lang="en-US" sz="1600" dirty="0">
                <a:solidFill>
                  <a:srgbClr val="1C2B39"/>
                </a:solidFill>
                <a:latin typeface="IBM Plex Sans" pitchFamily="34" charset="0"/>
                <a:ea typeface="IBM Plex Sans" pitchFamily="34" charset="-122"/>
                <a:cs typeface="IBM Plex Sans" pitchFamily="34" charset="-120"/>
              </a:rPr>
              <a:t> </a:t>
            </a:r>
            <a:r>
              <a:rPr lang="en-US" sz="1600" dirty="0">
                <a:solidFill>
                  <a:srgbClr val="5B6570"/>
                </a:solidFill>
                <a:latin typeface="IBM Plex Sans" pitchFamily="34" charset="0"/>
                <a:ea typeface="IBM Plex Sans" pitchFamily="34" charset="-122"/>
                <a:cs typeface="IBM Plex Sans" pitchFamily="34" charset="-120"/>
              </a:rPr>
              <a:t>by when</a:t>
            </a:r>
            <a:endParaRPr lang="en-US" sz="1600" dirty="0"/>
          </a:p>
        </p:txBody>
      </p:sp>
      <p:pic>
        <p:nvPicPr>
          <p:cNvPr id="12" name="Image 4" descr="Amount: ochre hexagon">    </p:cNvPr>
          <p:cNvPicPr>
            <a:picLocks noChangeAspect="1"/>
          </p:cNvPicPr>
          <p:nvPr/>
        </p:nvPicPr>
        <p:blipFill>
          <a:blip r:embed="rId5"/>
          <a:srcRect l="0" r="0" t="0" b="0"/>
          <a:stretch/>
        </p:blipFill>
        <p:spPr>
          <a:xfrm>
            <a:off x="7721600" y="3449191"/>
            <a:ext cx="254000" cy="254000"/>
          </a:xfrm>
          <a:prstGeom prst="rect">
            <a:avLst/>
          </a:prstGeom>
        </p:spPr>
      </p:pic>
      <p:sp>
        <p:nvSpPr>
          <p:cNvPr id="13" name="Text 6"/>
          <p:cNvSpPr/>
          <p:nvPr/>
        </p:nvSpPr>
        <p:spPr>
          <a:xfrm>
            <a:off x="8102600" y="3433961"/>
            <a:ext cx="178887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2B39"/>
                </a:solidFill>
                <a:latin typeface="IBM Plex Sans" pitchFamily="34" charset="0"/>
                <a:ea typeface="IBM Plex Sans" pitchFamily="34" charset="-122"/>
                <a:cs typeface="IBM Plex Sans" pitchFamily="34" charset="-120"/>
              </a:rPr>
              <a:t>Amount</a:t>
            </a:r>
            <a:r>
              <a:rPr lang="en-US" sz="1600" dirty="0">
                <a:solidFill>
                  <a:srgbClr val="1C2B39"/>
                </a:solidFill>
                <a:latin typeface="IBM Plex Sans" pitchFamily="34" charset="0"/>
                <a:ea typeface="IBM Plex Sans" pitchFamily="34" charset="-122"/>
                <a:cs typeface="IBM Plex Sans" pitchFamily="34" charset="-120"/>
              </a:rPr>
              <a:t> </a:t>
            </a:r>
            <a:r>
              <a:rPr lang="en-US" sz="1600" dirty="0">
                <a:solidFill>
                  <a:srgbClr val="5B6570"/>
                </a:solidFill>
                <a:latin typeface="IBM Plex Sans" pitchFamily="34" charset="0"/>
                <a:ea typeface="IBM Plex Sans" pitchFamily="34" charset="-122"/>
                <a:cs typeface="IBM Plex Sans" pitchFamily="34" charset="-120"/>
              </a:rPr>
              <a:t>how much</a:t>
            </a:r>
            <a:endParaRPr lang="en-US" sz="1600" dirty="0"/>
          </a:p>
        </p:txBody>
      </p:sp>
      <p:pic>
        <p:nvPicPr>
          <p:cNvPr id="14" name="Image 5" descr="Topic: grey tag">    </p:cNvPr>
          <p:cNvPicPr>
            <a:picLocks noChangeAspect="1"/>
          </p:cNvPicPr>
          <p:nvPr/>
        </p:nvPicPr>
        <p:blipFill>
          <a:blip r:embed="rId6"/>
          <a:srcRect l="0" r="0" t="0" b="0"/>
          <a:stretch/>
        </p:blipFill>
        <p:spPr>
          <a:xfrm>
            <a:off x="7721600" y="3886051"/>
            <a:ext cx="254000" cy="254000"/>
          </a:xfrm>
          <a:prstGeom prst="rect">
            <a:avLst/>
          </a:prstGeom>
        </p:spPr>
      </p:pic>
      <p:sp>
        <p:nvSpPr>
          <p:cNvPr id="15" name="Text 7"/>
          <p:cNvSpPr/>
          <p:nvPr/>
        </p:nvSpPr>
        <p:spPr>
          <a:xfrm>
            <a:off x="8102600" y="3870821"/>
            <a:ext cx="218243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2B39"/>
                </a:solidFill>
                <a:latin typeface="IBM Plex Sans" pitchFamily="34" charset="0"/>
                <a:ea typeface="IBM Plex Sans" pitchFamily="34" charset="-122"/>
                <a:cs typeface="IBM Plex Sans" pitchFamily="34" charset="-120"/>
              </a:rPr>
              <a:t>Topic</a:t>
            </a:r>
            <a:r>
              <a:rPr lang="en-US" sz="1600" dirty="0">
                <a:solidFill>
                  <a:srgbClr val="1C2B39"/>
                </a:solidFill>
                <a:latin typeface="IBM Plex Sans" pitchFamily="34" charset="0"/>
                <a:ea typeface="IBM Plex Sans" pitchFamily="34" charset="-122"/>
                <a:cs typeface="IBM Plex Sans" pitchFamily="34" charset="-120"/>
              </a:rPr>
              <a:t> </a:t>
            </a:r>
            <a:r>
              <a:rPr lang="en-US" sz="1600" dirty="0">
                <a:solidFill>
                  <a:srgbClr val="5B6570"/>
                </a:solidFill>
                <a:latin typeface="IBM Plex Sans" pitchFamily="34" charset="0"/>
                <a:ea typeface="IBM Plex Sans" pitchFamily="34" charset="-122"/>
                <a:cs typeface="IBM Plex Sans" pitchFamily="34" charset="-120"/>
              </a:rPr>
              <a:t>where in the deal</a:t>
            </a:r>
            <a:endParaRPr lang="en-US" sz="1600" dirty="0"/>
          </a:p>
        </p:txBody>
      </p:sp>
      <p:pic>
        <p:nvPicPr>
          <p:cNvPr id="16" name="Image 6" descr="line">    </p:cNvPr>
          <p:cNvPicPr>
            <a:picLocks noChangeAspect="1"/>
          </p:cNvPicPr>
          <p:nvPr/>
        </p:nvPicPr>
        <p:blipFill>
          <a:blip r:embed="rId7"/>
          <a:srcRect l="0" r="0" t="0" b="0"/>
          <a:stretch/>
        </p:blipFill>
        <p:spPr>
          <a:xfrm>
            <a:off x="7721600" y="4307681"/>
            <a:ext cx="3556000" cy="12700"/>
          </a:xfrm>
          <a:prstGeom prst="rect">
            <a:avLst/>
          </a:prstGeom>
        </p:spPr>
      </p:pic>
      <p:sp>
        <p:nvSpPr>
          <p:cNvPr id="17" name="Text 8"/>
          <p:cNvSpPr/>
          <p:nvPr/>
        </p:nvSpPr>
        <p:spPr>
          <a:xfrm>
            <a:off x="7721600" y="4472781"/>
            <a:ext cx="3767328"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0"/>
                </a:solidFill>
                <a:latin typeface="IBM Plex Sans" pitchFamily="34" charset="0"/>
                <a:ea typeface="IBM Plex Sans" pitchFamily="34" charset="-122"/>
                <a:cs typeface="IBM Plex Sans" pitchFamily="34" charset="-120"/>
              </a:rPr>
              <a:t>Demo: a 20-page supply agreement, 45 items and 60 links. The overview opens with the 30 most connected items and every party; one click shows the rest.</a:t>
            </a:r>
            <a:endParaRPr lang="en-US" sz="1200" dirty="0"/>
          </a:p>
        </p:txBody>
      </p:sp>
      <p:sp>
        <p:nvSpPr>
          <p:cNvPr id="18" name="Text 9"/>
          <p:cNvSpPr/>
          <p:nvPr/>
        </p:nvSpPr>
        <p:spPr>
          <a:xfrm>
            <a:off x="812800" y="6230640"/>
            <a:ext cx="87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clausemap</a:t>
            </a:r>
            <a:endParaRPr lang="en-US" sz="1200" dirty="0"/>
          </a:p>
        </p:txBody>
      </p:sp>
      <p:sp>
        <p:nvSpPr>
          <p:cNvPr id="19" name="Text 10"/>
          <p:cNvSpPr/>
          <p:nvPr/>
        </p:nvSpPr>
        <p:spPr>
          <a:xfrm>
            <a:off x="11196290" y="623064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25" kern="0" dirty="0">
                <a:solidFill>
                  <a:srgbClr val="1C2B39"/>
                </a:solidFill>
                <a:latin typeface="IBM Plex Sans" pitchFamily="34" charset="0"/>
                <a:ea typeface="IBM Plex Sans" pitchFamily="34" charset="-122"/>
                <a:cs typeface="IBM Plex Sans" pitchFamily="34" charset="-120"/>
              </a:rPr>
              <a:t>Click anything. See the exact line.</a:t>
            </a:r>
            <a:endParaRPr lang="en-US" sz="3600" dirty="0"/>
          </a:p>
        </p:txBody>
      </p:sp>
      <p:sp>
        <p:nvSpPr>
          <p:cNvPr id="3" name="Shape 1"/>
          <p:cNvSpPr/>
          <p:nvPr/>
        </p:nvSpPr>
        <p:spPr>
          <a:xfrm>
            <a:off x="812800" y="1620490"/>
            <a:ext cx="6604000" cy="3651250"/>
          </a:xfrm>
          <a:prstGeom prst="roundRect">
            <a:avLst>
              <a:gd name="adj" fmla="val 2087"/>
            </a:avLst>
          </a:prstGeom>
          <a:solidFill>
            <a:srgbClr val="F6F3EC"/>
          </a:solidFill>
          <a:ln/>
        </p:spPr>
      </p:sp>
      <p:pic>
        <p:nvPicPr>
          <p:cNvPr id="4" name="Image 0" descr="TechCorp Ltd. selected on the map: its links light up in orange, and the side panel lists what it must perform, with verified quotes and page numbers">    </p:cNvPr>
          <p:cNvPicPr>
            <a:picLocks noChangeAspect="1"/>
          </p:cNvPicPr>
          <p:nvPr/>
        </p:nvPicPr>
        <p:blipFill>
          <a:blip r:embed="rId1"/>
          <a:srcRect l="-68" r="-68" t="0" b="0"/>
          <a:stretch/>
        </p:blipFill>
        <p:spPr>
          <a:xfrm>
            <a:off x="819150" y="1626840"/>
            <a:ext cx="6591300" cy="3638550"/>
          </a:xfrm>
          <a:prstGeom prst="roundRect">
            <a:avLst>
              <a:gd name="adj" fmla="val 1920"/>
            </a:avLst>
          </a:prstGeom>
        </p:spPr>
      </p:pic>
      <p:sp>
        <p:nvSpPr>
          <p:cNvPr id="5" name="Shape 2"/>
          <p:cNvSpPr/>
          <p:nvPr/>
        </p:nvSpPr>
        <p:spPr>
          <a:xfrm>
            <a:off x="815975" y="1623665"/>
            <a:ext cx="6597650" cy="3644900"/>
          </a:xfrm>
          <a:prstGeom prst="roundRect">
            <a:avLst>
              <a:gd name="adj" fmla="val 2003"/>
            </a:avLst>
          </a:prstGeom>
          <a:noFill/>
          <a:ln w="6350">
            <a:solidFill>
              <a:srgbClr val="B9B4A8"/>
            </a:solidFill>
            <a:prstDash val="solid"/>
          </a:ln>
        </p:spPr>
      </p:sp>
      <p:sp>
        <p:nvSpPr>
          <p:cNvPr id="6" name="Shape 3"/>
          <p:cNvSpPr/>
          <p:nvPr/>
        </p:nvSpPr>
        <p:spPr>
          <a:xfrm>
            <a:off x="7721600" y="1620490"/>
            <a:ext cx="3657600" cy="2001441"/>
          </a:xfrm>
          <a:prstGeom prst="roundRect">
            <a:avLst>
              <a:gd name="adj" fmla="val 2538"/>
            </a:avLst>
          </a:prstGeom>
          <a:solidFill>
            <a:srgbClr val="F2E3A0"/>
          </a:solidFill>
          <a:ln/>
        </p:spPr>
      </p:sp>
      <p:sp>
        <p:nvSpPr>
          <p:cNvPr id="7" name="Text 4"/>
          <p:cNvSpPr/>
          <p:nvPr/>
        </p:nvSpPr>
        <p:spPr>
          <a:xfrm>
            <a:off x="7975600" y="1874490"/>
            <a:ext cx="3244088" cy="1203920"/>
          </a:xfrm>
          <a:prstGeom prst="rect">
            <a:avLst/>
          </a:prstGeom>
          <a:noFill/>
          <a:ln/>
        </p:spPr>
        <p:txBody>
          <a:bodyPr wrap="square" lIns="0" tIns="0" rIns="0" bIns="0" rtlCol="0" anchor="t">
            <a:normAutofit/>
          </a:bodyPr>
          <a:lstStyle/>
          <a:p>
            <a:pPr algn="l" indent="0" marL="0">
              <a:lnSpc>
                <a:spcPts val="2320"/>
              </a:lnSpc>
              <a:buNone/>
            </a:pPr>
            <a:r>
              <a:rPr lang="en-US" sz="1600" i="1" dirty="0">
                <a:solidFill>
                  <a:srgbClr val="1C2B39"/>
                </a:solidFill>
                <a:latin typeface="Source Serif 4" pitchFamily="34" charset="0"/>
                <a:ea typeface="Source Serif 4" pitchFamily="34" charset="-122"/>
                <a:cs typeface="Source Serif 4" pitchFamily="34" charset="-120"/>
              </a:rPr>
              <a:t>“The Buyer shall submit purchase orders to the Supplier no later than ten Business Days before the required delivery date.”</a:t>
            </a:r>
            <a:endParaRPr lang="en-US" sz="1600" dirty="0"/>
          </a:p>
        </p:txBody>
      </p:sp>
      <p:sp>
        <p:nvSpPr>
          <p:cNvPr id="8" name="Text 5"/>
          <p:cNvSpPr/>
          <p:nvPr/>
        </p:nvSpPr>
        <p:spPr>
          <a:xfrm>
            <a:off x="7975600" y="3154611"/>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p. 3 · verified</a:t>
            </a:r>
            <a:endParaRPr lang="en-US" sz="1200" dirty="0"/>
          </a:p>
        </p:txBody>
      </p:sp>
      <p:sp>
        <p:nvSpPr>
          <p:cNvPr id="9" name="Text 6"/>
          <p:cNvSpPr/>
          <p:nvPr/>
        </p:nvSpPr>
        <p:spPr>
          <a:xfrm>
            <a:off x="7721600" y="3825131"/>
            <a:ext cx="376732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2B39"/>
                </a:solidFill>
                <a:latin typeface="IBM Plex Sans" pitchFamily="34" charset="0"/>
                <a:ea typeface="IBM Plex Sans" pitchFamily="34" charset="-122"/>
                <a:cs typeface="IBM Plex Sans" pitchFamily="34" charset="-120"/>
              </a:rPr>
              <a:t>Every node and every link carries its quote and page.</a:t>
            </a:r>
            <a:endParaRPr lang="en-US" sz="1600" dirty="0"/>
          </a:p>
        </p:txBody>
      </p:sp>
      <p:sp>
        <p:nvSpPr>
          <p:cNvPr id="10" name="Text 7"/>
          <p:cNvSpPr/>
          <p:nvPr/>
        </p:nvSpPr>
        <p:spPr>
          <a:xfrm>
            <a:off x="7721600" y="4597251"/>
            <a:ext cx="376732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Links read as sentences: must perform, liable for, may exercise.</a:t>
            </a:r>
            <a:endParaRPr lang="en-US" sz="1600" dirty="0"/>
          </a:p>
        </p:txBody>
      </p:sp>
      <p:sp>
        <p:nvSpPr>
          <p:cNvPr id="11" name="Text 8"/>
          <p:cNvSpPr/>
          <p:nvPr/>
        </p:nvSpPr>
        <p:spPr>
          <a:xfrm>
            <a:off x="812800" y="6230640"/>
            <a:ext cx="87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clausemap</a:t>
            </a:r>
            <a:endParaRPr lang="en-US" sz="1200" dirty="0"/>
          </a:p>
        </p:txBody>
      </p:sp>
      <p:sp>
        <p:nvSpPr>
          <p:cNvPr id="12" name="Text 9"/>
          <p:cNvSpPr/>
          <p:nvPr/>
        </p:nvSpPr>
        <p:spPr>
          <a:xfrm>
            <a:off x="11196290" y="623064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25" kern="0" dirty="0">
                <a:solidFill>
                  <a:srgbClr val="1C2B39"/>
                </a:solidFill>
                <a:latin typeface="IBM Plex Sans" pitchFamily="34" charset="0"/>
                <a:ea typeface="IBM Plex Sans" pitchFamily="34" charset="-122"/>
                <a:cs typeface="IBM Plex Sans" pitchFamily="34" charset="-120"/>
              </a:rPr>
              <a:t>From PDF to map in four checked steps</a:t>
            </a:r>
            <a:endParaRPr lang="en-US" sz="3600" dirty="0"/>
          </a:p>
        </p:txBody>
      </p:sp>
      <p:sp>
        <p:nvSpPr>
          <p:cNvPr id="3" name="Shape 1"/>
          <p:cNvSpPr/>
          <p:nvPr/>
        </p:nvSpPr>
        <p:spPr>
          <a:xfrm>
            <a:off x="812800" y="5143946"/>
            <a:ext cx="10566400" cy="0"/>
          </a:xfrm>
          <a:prstGeom prst="line">
            <a:avLst/>
          </a:prstGeom>
          <a:noFill/>
          <a:ln w="6350">
            <a:solidFill>
              <a:srgbClr val="B9B4A8"/>
            </a:solidFill>
            <a:prstDash val="solid"/>
          </a:ln>
        </p:spPr>
      </p:sp>
      <p:sp>
        <p:nvSpPr>
          <p:cNvPr id="4" name="Shape 2"/>
          <p:cNvSpPr/>
          <p:nvPr/>
        </p:nvSpPr>
        <p:spPr>
          <a:xfrm>
            <a:off x="812800" y="1623665"/>
            <a:ext cx="10566400" cy="0"/>
          </a:xfrm>
          <a:prstGeom prst="line">
            <a:avLst/>
          </a:prstGeom>
          <a:noFill/>
          <a:ln w="6350">
            <a:solidFill>
              <a:srgbClr val="B9B4A8"/>
            </a:solidFill>
            <a:prstDash val="solid"/>
          </a:ln>
        </p:spPr>
      </p:sp>
      <p:sp>
        <p:nvSpPr>
          <p:cNvPr id="5" name="Text 3"/>
          <p:cNvSpPr/>
          <p:nvPr/>
        </p:nvSpPr>
        <p:spPr>
          <a:xfrm>
            <a:off x="812800" y="1921470"/>
            <a:ext cx="14478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Mono" pitchFamily="34" charset="0"/>
                <a:ea typeface="IBM Plex Mono" pitchFamily="34" charset="-122"/>
                <a:cs typeface="IBM Plex Mono" pitchFamily="34" charset="-120"/>
              </a:rPr>
              <a:t>0.0 s</a:t>
            </a:r>
            <a:endParaRPr lang="en-US" sz="1600" dirty="0"/>
          </a:p>
        </p:txBody>
      </p:sp>
      <p:sp>
        <p:nvSpPr>
          <p:cNvPr id="6" name="Text 4"/>
          <p:cNvSpPr/>
          <p:nvPr/>
        </p:nvSpPr>
        <p:spPr>
          <a:xfrm>
            <a:off x="2413000" y="1896070"/>
            <a:ext cx="132080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2B39"/>
                </a:solidFill>
                <a:latin typeface="IBM Plex Sans" pitchFamily="34" charset="0"/>
                <a:ea typeface="IBM Plex Sans" pitchFamily="34" charset="-122"/>
                <a:cs typeface="IBM Plex Sans" pitchFamily="34" charset="-120"/>
              </a:rPr>
              <a:t>Read</a:t>
            </a:r>
            <a:endParaRPr lang="en-US" sz="2200" dirty="0"/>
          </a:p>
        </p:txBody>
      </p:sp>
      <p:sp>
        <p:nvSpPr>
          <p:cNvPr id="7" name="Text 5"/>
          <p:cNvSpPr/>
          <p:nvPr/>
        </p:nvSpPr>
        <p:spPr>
          <a:xfrm>
            <a:off x="3886200" y="1779240"/>
            <a:ext cx="55463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2B39"/>
                </a:solidFill>
                <a:latin typeface="IBM Plex Sans" pitchFamily="34" charset="0"/>
                <a:ea typeface="IBM Plex Sans" pitchFamily="34" charset="-122"/>
                <a:cs typeface="IBM Plex Sans" pitchFamily="34" charset="-120"/>
              </a:rPr>
              <a:t>The PDF is split into pages, so every item keeps its page number.</a:t>
            </a:r>
            <a:endParaRPr lang="en-US" sz="1600" dirty="0"/>
          </a:p>
        </p:txBody>
      </p:sp>
      <p:sp>
        <p:nvSpPr>
          <p:cNvPr id="8" name="Text 6"/>
          <p:cNvSpPr/>
          <p:nvPr/>
        </p:nvSpPr>
        <p:spPr>
          <a:xfrm>
            <a:off x="9417050" y="1921470"/>
            <a:ext cx="196215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A84416"/>
                </a:solidFill>
                <a:latin typeface="IBM Plex Mono" pitchFamily="34" charset="0"/>
                <a:ea typeface="IBM Plex Mono" pitchFamily="34" charset="-122"/>
                <a:cs typeface="IBM Plex Mono" pitchFamily="34" charset="-120"/>
              </a:rPr>
              <a:t>20 pages</a:t>
            </a:r>
            <a:endParaRPr lang="en-US" sz="1600" dirty="0"/>
          </a:p>
        </p:txBody>
      </p:sp>
      <p:sp>
        <p:nvSpPr>
          <p:cNvPr id="9" name="Shape 7"/>
          <p:cNvSpPr/>
          <p:nvPr/>
        </p:nvSpPr>
        <p:spPr>
          <a:xfrm>
            <a:off x="812800" y="2503736"/>
            <a:ext cx="10566400" cy="0"/>
          </a:xfrm>
          <a:prstGeom prst="line">
            <a:avLst/>
          </a:prstGeom>
          <a:noFill/>
          <a:ln w="6350">
            <a:solidFill>
              <a:srgbClr val="B9B4A8"/>
            </a:solidFill>
            <a:prstDash val="solid"/>
          </a:ln>
        </p:spPr>
      </p:sp>
      <p:sp>
        <p:nvSpPr>
          <p:cNvPr id="10" name="Text 8"/>
          <p:cNvSpPr/>
          <p:nvPr/>
        </p:nvSpPr>
        <p:spPr>
          <a:xfrm>
            <a:off x="812800" y="2801541"/>
            <a:ext cx="14478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Mono" pitchFamily="34" charset="0"/>
                <a:ea typeface="IBM Plex Mono" pitchFamily="34" charset="-122"/>
                <a:cs typeface="IBM Plex Mono" pitchFamily="34" charset="-120"/>
              </a:rPr>
              <a:t>1.2–22.1 s</a:t>
            </a:r>
            <a:endParaRPr lang="en-US" sz="1600" dirty="0"/>
          </a:p>
        </p:txBody>
      </p:sp>
      <p:sp>
        <p:nvSpPr>
          <p:cNvPr id="11" name="Text 9"/>
          <p:cNvSpPr/>
          <p:nvPr/>
        </p:nvSpPr>
        <p:spPr>
          <a:xfrm>
            <a:off x="2413000" y="2776141"/>
            <a:ext cx="132080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2B39"/>
                </a:solidFill>
                <a:latin typeface="IBM Plex Sans" pitchFamily="34" charset="0"/>
                <a:ea typeface="IBM Plex Sans" pitchFamily="34" charset="-122"/>
                <a:cs typeface="IBM Plex Sans" pitchFamily="34" charset="-120"/>
              </a:rPr>
              <a:t>Extract</a:t>
            </a:r>
            <a:endParaRPr lang="en-US" sz="2200" dirty="0"/>
          </a:p>
        </p:txBody>
      </p:sp>
      <p:sp>
        <p:nvSpPr>
          <p:cNvPr id="12" name="Text 10"/>
          <p:cNvSpPr/>
          <p:nvPr/>
        </p:nvSpPr>
        <p:spPr>
          <a:xfrm>
            <a:off x="3886200" y="2659311"/>
            <a:ext cx="55463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2B39"/>
                </a:solidFill>
                <a:latin typeface="IBM Plex Sans" pitchFamily="34" charset="0"/>
                <a:ea typeface="IBM Plex Sans" pitchFamily="34" charset="-122"/>
                <a:cs typeface="IBM Plex Sans" pitchFamily="34" charset="-120"/>
              </a:rPr>
              <a:t>One call per page finds parties, obligations, dates and amounts, with quotes.</a:t>
            </a:r>
            <a:endParaRPr lang="en-US" sz="1600" dirty="0"/>
          </a:p>
        </p:txBody>
      </p:sp>
      <p:sp>
        <p:nvSpPr>
          <p:cNvPr id="13" name="Text 11"/>
          <p:cNvSpPr/>
          <p:nvPr/>
        </p:nvSpPr>
        <p:spPr>
          <a:xfrm>
            <a:off x="9417050" y="2801541"/>
            <a:ext cx="196215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A84416"/>
                </a:solidFill>
                <a:latin typeface="IBM Plex Mono" pitchFamily="34" charset="0"/>
                <a:ea typeface="IBM Plex Mono" pitchFamily="34" charset="-122"/>
                <a:cs typeface="IBM Plex Mono" pitchFamily="34" charset="-120"/>
              </a:rPr>
              <a:t>1 call / page</a:t>
            </a:r>
            <a:endParaRPr lang="en-US" sz="1600" dirty="0"/>
          </a:p>
        </p:txBody>
      </p:sp>
      <p:sp>
        <p:nvSpPr>
          <p:cNvPr id="14" name="Shape 12"/>
          <p:cNvSpPr/>
          <p:nvPr/>
        </p:nvSpPr>
        <p:spPr>
          <a:xfrm>
            <a:off x="812800" y="3383806"/>
            <a:ext cx="10566400" cy="0"/>
          </a:xfrm>
          <a:prstGeom prst="line">
            <a:avLst/>
          </a:prstGeom>
          <a:noFill/>
          <a:ln w="6350">
            <a:solidFill>
              <a:srgbClr val="B9B4A8"/>
            </a:solidFill>
            <a:prstDash val="solid"/>
          </a:ln>
        </p:spPr>
      </p:sp>
      <p:sp>
        <p:nvSpPr>
          <p:cNvPr id="15" name="Text 13"/>
          <p:cNvSpPr/>
          <p:nvPr/>
        </p:nvSpPr>
        <p:spPr>
          <a:xfrm>
            <a:off x="812800" y="3681611"/>
            <a:ext cx="14478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Mono" pitchFamily="34" charset="0"/>
                <a:ea typeface="IBM Plex Mono" pitchFamily="34" charset="-122"/>
                <a:cs typeface="IBM Plex Mono" pitchFamily="34" charset="-120"/>
              </a:rPr>
              <a:t>34.2 s</a:t>
            </a:r>
            <a:endParaRPr lang="en-US" sz="1600" dirty="0"/>
          </a:p>
        </p:txBody>
      </p:sp>
      <p:sp>
        <p:nvSpPr>
          <p:cNvPr id="16" name="Text 14"/>
          <p:cNvSpPr/>
          <p:nvPr/>
        </p:nvSpPr>
        <p:spPr>
          <a:xfrm>
            <a:off x="2413000" y="3656211"/>
            <a:ext cx="132080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2B39"/>
                </a:solidFill>
                <a:latin typeface="IBM Plex Sans" pitchFamily="34" charset="0"/>
                <a:ea typeface="IBM Plex Sans" pitchFamily="34" charset="-122"/>
                <a:cs typeface="IBM Plex Sans" pitchFamily="34" charset="-120"/>
              </a:rPr>
              <a:t>Verify</a:t>
            </a:r>
            <a:endParaRPr lang="en-US" sz="2200" dirty="0"/>
          </a:p>
        </p:txBody>
      </p:sp>
      <p:sp>
        <p:nvSpPr>
          <p:cNvPr id="17" name="Text 15"/>
          <p:cNvSpPr/>
          <p:nvPr/>
        </p:nvSpPr>
        <p:spPr>
          <a:xfrm>
            <a:off x="3886200" y="3539381"/>
            <a:ext cx="55463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2B39"/>
                </a:solidFill>
                <a:latin typeface="IBM Plex Sans" pitchFamily="34" charset="0"/>
                <a:ea typeface="IBM Plex Sans" pitchFamily="34" charset="-122"/>
                <a:cs typeface="IBM Plex Sans" pitchFamily="34" charset="-120"/>
              </a:rPr>
              <a:t>Each quote is matched word for word against its page. No match, no node.</a:t>
            </a:r>
            <a:endParaRPr lang="en-US" sz="1600" dirty="0"/>
          </a:p>
        </p:txBody>
      </p:sp>
      <p:sp>
        <p:nvSpPr>
          <p:cNvPr id="18" name="Text 16"/>
          <p:cNvSpPr/>
          <p:nvPr/>
        </p:nvSpPr>
        <p:spPr>
          <a:xfrm>
            <a:off x="9417050" y="3681611"/>
            <a:ext cx="196215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A84416"/>
                </a:solidFill>
                <a:latin typeface="IBM Plex Mono" pitchFamily="34" charset="0"/>
                <a:ea typeface="IBM Plex Mono" pitchFamily="34" charset="-122"/>
                <a:cs typeface="IBM Plex Mono" pitchFamily="34" charset="-120"/>
              </a:rPr>
              <a:t>6 dropped</a:t>
            </a:r>
            <a:endParaRPr lang="en-US" sz="1600" dirty="0"/>
          </a:p>
        </p:txBody>
      </p:sp>
      <p:sp>
        <p:nvSpPr>
          <p:cNvPr id="19" name="Shape 17"/>
          <p:cNvSpPr/>
          <p:nvPr/>
        </p:nvSpPr>
        <p:spPr>
          <a:xfrm>
            <a:off x="812800" y="4263876"/>
            <a:ext cx="10566400" cy="0"/>
          </a:xfrm>
          <a:prstGeom prst="line">
            <a:avLst/>
          </a:prstGeom>
          <a:noFill/>
          <a:ln w="6350">
            <a:solidFill>
              <a:srgbClr val="B9B4A8"/>
            </a:solidFill>
            <a:prstDash val="solid"/>
          </a:ln>
        </p:spPr>
      </p:sp>
      <p:sp>
        <p:nvSpPr>
          <p:cNvPr id="20" name="Text 18"/>
          <p:cNvSpPr/>
          <p:nvPr/>
        </p:nvSpPr>
        <p:spPr>
          <a:xfrm>
            <a:off x="812800" y="4561681"/>
            <a:ext cx="14478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Mono" pitchFamily="34" charset="0"/>
                <a:ea typeface="IBM Plex Mono" pitchFamily="34" charset="-122"/>
                <a:cs typeface="IBM Plex Mono" pitchFamily="34" charset="-120"/>
              </a:rPr>
              <a:t>36.8 s</a:t>
            </a:r>
            <a:endParaRPr lang="en-US" sz="1600" dirty="0"/>
          </a:p>
        </p:txBody>
      </p:sp>
      <p:sp>
        <p:nvSpPr>
          <p:cNvPr id="21" name="Text 19"/>
          <p:cNvSpPr/>
          <p:nvPr/>
        </p:nvSpPr>
        <p:spPr>
          <a:xfrm>
            <a:off x="2413000" y="4536281"/>
            <a:ext cx="132080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2B39"/>
                </a:solidFill>
                <a:latin typeface="IBM Plex Sans" pitchFamily="34" charset="0"/>
                <a:ea typeface="IBM Plex Sans" pitchFamily="34" charset="-122"/>
                <a:cs typeface="IBM Plex Sans" pitchFamily="34" charset="-120"/>
              </a:rPr>
              <a:t>Merge</a:t>
            </a:r>
            <a:endParaRPr lang="en-US" sz="2200" dirty="0"/>
          </a:p>
        </p:txBody>
      </p:sp>
      <p:sp>
        <p:nvSpPr>
          <p:cNvPr id="22" name="Text 20"/>
          <p:cNvSpPr/>
          <p:nvPr/>
        </p:nvSpPr>
        <p:spPr>
          <a:xfrm>
            <a:off x="3886200" y="4419451"/>
            <a:ext cx="55463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2B39"/>
                </a:solidFill>
                <a:latin typeface="IBM Plex Sans" pitchFamily="34" charset="0"/>
                <a:ea typeface="IBM Plex Sans" pitchFamily="34" charset="-122"/>
                <a:cs typeface="IBM Plex Sans" pitchFamily="34" charset="-120"/>
              </a:rPr>
              <a:t>“TechCorp Ltd.”, “TechCorp” and “the Buyer” become one party, then the graph is drawn.</a:t>
            </a:r>
            <a:endParaRPr lang="en-US" sz="1600" dirty="0"/>
          </a:p>
        </p:txBody>
      </p:sp>
      <p:sp>
        <p:nvSpPr>
          <p:cNvPr id="23" name="Text 21"/>
          <p:cNvSpPr/>
          <p:nvPr/>
        </p:nvSpPr>
        <p:spPr>
          <a:xfrm>
            <a:off x="9417050" y="4561681"/>
            <a:ext cx="196215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A84416"/>
                </a:solidFill>
                <a:latin typeface="IBM Plex Mono" pitchFamily="34" charset="0"/>
                <a:ea typeface="IBM Plex Mono" pitchFamily="34" charset="-122"/>
                <a:cs typeface="IBM Plex Mono" pitchFamily="34" charset="-120"/>
              </a:rPr>
              <a:t>52 → 45 nodes</a:t>
            </a:r>
            <a:endParaRPr lang="en-US" sz="1600" dirty="0"/>
          </a:p>
        </p:txBody>
      </p:sp>
      <p:sp>
        <p:nvSpPr>
          <p:cNvPr id="24" name="Text 22"/>
          <p:cNvSpPr/>
          <p:nvPr/>
        </p:nvSpPr>
        <p:spPr>
          <a:xfrm>
            <a:off x="812800" y="545192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Sans" pitchFamily="34" charset="0"/>
                <a:ea typeface="IBM Plex Sans" pitchFamily="34" charset="-122"/>
                <a:cs typeface="IBM Plex Sans" pitchFamily="34" charset="-120"/>
              </a:rPr>
              <a:t>Timings from the demo run: a 20-page supply agreement, mapped in 36.8 s into 45 nodes and 60 links.</a:t>
            </a:r>
            <a:endParaRPr lang="en-US" sz="1200" dirty="0"/>
          </a:p>
        </p:txBody>
      </p:sp>
      <p:sp>
        <p:nvSpPr>
          <p:cNvPr id="25" name="Text 23"/>
          <p:cNvSpPr/>
          <p:nvPr/>
        </p:nvSpPr>
        <p:spPr>
          <a:xfrm>
            <a:off x="812800" y="6230640"/>
            <a:ext cx="87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clausemap</a:t>
            </a:r>
            <a:endParaRPr lang="en-US" sz="1200" dirty="0"/>
          </a:p>
        </p:txBody>
      </p:sp>
      <p:sp>
        <p:nvSpPr>
          <p:cNvPr id="26" name="Text 24"/>
          <p:cNvSpPr/>
          <p:nvPr/>
        </p:nvSpPr>
        <p:spPr>
          <a:xfrm>
            <a:off x="11196290" y="623064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8501C"/>
        </a:solidFill>
      </p:bgPr>
    </p:bg>
    <p:spTree>
      <p:nvGrpSpPr>
        <p:cNvPr id="1" name=""/>
        <p:cNvGrpSpPr/>
        <p:nvPr/>
      </p:nvGrpSpPr>
      <p:grpSpPr>
        <a:xfrm>
          <a:off x="0" y="0"/>
          <a:ext cx="0" cy="0"/>
          <a:chOff x="0" y="0"/>
          <a:chExt cx="0" cy="0"/>
        </a:xfrm>
      </p:grpSpPr>
      <p:sp>
        <p:nvSpPr>
          <p:cNvPr id="2" name="Text 0"/>
          <p:cNvSpPr/>
          <p:nvPr/>
        </p:nvSpPr>
        <p:spPr>
          <a:xfrm>
            <a:off x="812800" y="2204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FBF7F0"/>
                </a:solidFill>
                <a:latin typeface="IBM Plex Mono" pitchFamily="34" charset="0"/>
                <a:ea typeface="IBM Plex Mono" pitchFamily="34" charset="-122"/>
                <a:cs typeface="IBM Plex Mono" pitchFamily="34" charset="-120"/>
              </a:rPr>
              <a:t>VERBATIM OR NOTHING</a:t>
            </a:r>
            <a:endParaRPr lang="en-US" sz="1600" dirty="0"/>
          </a:p>
        </p:txBody>
      </p:sp>
      <p:sp>
        <p:nvSpPr>
          <p:cNvPr id="3" name="Text 1"/>
          <p:cNvSpPr/>
          <p:nvPr/>
        </p:nvSpPr>
        <p:spPr>
          <a:xfrm>
            <a:off x="812800" y="279400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spc="-50" kern="0" dirty="0">
                <a:solidFill>
                  <a:srgbClr val="FBF7F0"/>
                </a:solidFill>
                <a:latin typeface="IBM Plex Sans" pitchFamily="34" charset="0"/>
                <a:ea typeface="IBM Plex Sans" pitchFamily="34" charset="-122"/>
                <a:cs typeface="IBM Plex Sans" pitchFamily="34" charset="-120"/>
              </a:rPr>
              <a:t>6 items left off the map.</a:t>
            </a:r>
            <a:endParaRPr lang="en-US" sz="6000" dirty="0"/>
          </a:p>
        </p:txBody>
      </p:sp>
      <p:sp>
        <p:nvSpPr>
          <p:cNvPr id="4" name="Text 2"/>
          <p:cNvSpPr/>
          <p:nvPr/>
        </p:nvSpPr>
        <p:spPr>
          <a:xfrm>
            <a:off x="812800" y="3898900"/>
            <a:ext cx="9810750" cy="77976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FBF7F0"/>
                </a:solidFill>
                <a:latin typeface="IBM Plex Sans" pitchFamily="34" charset="0"/>
                <a:ea typeface="IBM Plex Sans" pitchFamily="34" charset="-122"/>
                <a:cs typeface="IBM Plex Sans" pitchFamily="34" charset="-120"/>
              </a:rPr>
              <a:t>Their quotes weren't found on the cited page, so Clausemap dropped them and says so. A citation that isn't in the document is worse than no tool at all.</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25" kern="0" dirty="0">
                <a:solidFill>
                  <a:srgbClr val="1C2B39"/>
                </a:solidFill>
                <a:latin typeface="IBM Plex Sans" pitchFamily="34" charset="0"/>
                <a:ea typeface="IBM Plex Sans" pitchFamily="34" charset="-122"/>
                <a:cs typeface="IBM Plex Sans" pitchFamily="34" charset="-120"/>
              </a:rPr>
              <a:t>Ask a question, get the clause.</a:t>
            </a:r>
            <a:endParaRPr lang="en-US" sz="3600" dirty="0"/>
          </a:p>
        </p:txBody>
      </p:sp>
      <p:sp>
        <p:nvSpPr>
          <p:cNvPr id="3" name="Shape 1"/>
          <p:cNvSpPr/>
          <p:nvPr/>
        </p:nvSpPr>
        <p:spPr>
          <a:xfrm>
            <a:off x="812800" y="1620490"/>
            <a:ext cx="6604000" cy="3670300"/>
          </a:xfrm>
          <a:prstGeom prst="roundRect">
            <a:avLst>
              <a:gd name="adj" fmla="val 2076"/>
            </a:avLst>
          </a:prstGeom>
          <a:solidFill>
            <a:srgbClr val="F6F3EC"/>
          </a:solidFill>
          <a:ln/>
        </p:spPr>
      </p:sp>
      <p:pic>
        <p:nvPicPr>
          <p:cNvPr id="4" name="Image 0" descr="A question about late payment answered in the side panel with a verified quote from page 5, while the path from TechCorp to late payment interest lights up on the map">    </p:cNvPr>
          <p:cNvPicPr>
            <a:picLocks noChangeAspect="1"/>
          </p:cNvPicPr>
          <p:nvPr/>
        </p:nvPicPr>
        <p:blipFill>
          <a:blip r:embed="rId1"/>
          <a:srcRect l="-58" r="-58" t="0" b="0"/>
          <a:stretch/>
        </p:blipFill>
        <p:spPr>
          <a:xfrm>
            <a:off x="819150" y="1626840"/>
            <a:ext cx="6591300" cy="3657600"/>
          </a:xfrm>
          <a:prstGeom prst="roundRect">
            <a:avLst>
              <a:gd name="adj" fmla="val 1910"/>
            </a:avLst>
          </a:prstGeom>
        </p:spPr>
      </p:pic>
      <p:sp>
        <p:nvSpPr>
          <p:cNvPr id="5" name="Shape 2"/>
          <p:cNvSpPr/>
          <p:nvPr/>
        </p:nvSpPr>
        <p:spPr>
          <a:xfrm>
            <a:off x="815975" y="1623665"/>
            <a:ext cx="6597650" cy="3663950"/>
          </a:xfrm>
          <a:prstGeom prst="roundRect">
            <a:avLst>
              <a:gd name="adj" fmla="val 1993"/>
            </a:avLst>
          </a:prstGeom>
          <a:noFill/>
          <a:ln w="6350">
            <a:solidFill>
              <a:srgbClr val="B9B4A8"/>
            </a:solidFill>
            <a:prstDash val="solid"/>
          </a:ln>
        </p:spPr>
      </p:sp>
      <p:sp>
        <p:nvSpPr>
          <p:cNvPr id="6" name="Text 3"/>
          <p:cNvSpPr/>
          <p:nvPr/>
        </p:nvSpPr>
        <p:spPr>
          <a:xfrm>
            <a:off x="7721600" y="1620490"/>
            <a:ext cx="376732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416"/>
                </a:solidFill>
                <a:latin typeface="IBM Plex Mono" pitchFamily="34" charset="0"/>
                <a:ea typeface="IBM Plex Mono" pitchFamily="34" charset="-122"/>
                <a:cs typeface="IBM Plex Mono" pitchFamily="34" charset="-120"/>
              </a:rPr>
              <a:t>QUESTION</a:t>
            </a:r>
            <a:endParaRPr lang="en-US" sz="1200" dirty="0"/>
          </a:p>
        </p:txBody>
      </p:sp>
      <p:sp>
        <p:nvSpPr>
          <p:cNvPr id="7" name="Text 4"/>
          <p:cNvSpPr/>
          <p:nvPr/>
        </p:nvSpPr>
        <p:spPr>
          <a:xfrm>
            <a:off x="7721600" y="1986211"/>
            <a:ext cx="3767328" cy="57398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C2B39"/>
                </a:solidFill>
                <a:latin typeface="IBM Plex Sans" pitchFamily="34" charset="0"/>
                <a:ea typeface="IBM Plex Sans" pitchFamily="34" charset="-122"/>
                <a:cs typeface="IBM Plex Sans" pitchFamily="34" charset="-120"/>
              </a:rPr>
              <a:t>What happens if TechCorp pays an invoice late?</a:t>
            </a:r>
            <a:endParaRPr lang="en-US" sz="1600" dirty="0"/>
          </a:p>
        </p:txBody>
      </p:sp>
      <p:sp>
        <p:nvSpPr>
          <p:cNvPr id="8" name="Shape 5"/>
          <p:cNvSpPr/>
          <p:nvPr/>
        </p:nvSpPr>
        <p:spPr>
          <a:xfrm>
            <a:off x="7721600" y="2687191"/>
            <a:ext cx="3657600" cy="2001441"/>
          </a:xfrm>
          <a:prstGeom prst="roundRect">
            <a:avLst>
              <a:gd name="adj" fmla="val 2538"/>
            </a:avLst>
          </a:prstGeom>
          <a:solidFill>
            <a:srgbClr val="F2E3A0"/>
          </a:solidFill>
          <a:ln/>
        </p:spPr>
      </p:sp>
      <p:sp>
        <p:nvSpPr>
          <p:cNvPr id="9" name="Text 6"/>
          <p:cNvSpPr/>
          <p:nvPr/>
        </p:nvSpPr>
        <p:spPr>
          <a:xfrm>
            <a:off x="7975600" y="2941191"/>
            <a:ext cx="3244088" cy="1203920"/>
          </a:xfrm>
          <a:prstGeom prst="rect">
            <a:avLst/>
          </a:prstGeom>
          <a:noFill/>
          <a:ln/>
        </p:spPr>
        <p:txBody>
          <a:bodyPr wrap="square" lIns="0" tIns="0" rIns="0" bIns="0" rtlCol="0" anchor="t">
            <a:normAutofit/>
          </a:bodyPr>
          <a:lstStyle/>
          <a:p>
            <a:pPr algn="l" indent="0" marL="0">
              <a:lnSpc>
                <a:spcPts val="2320"/>
              </a:lnSpc>
              <a:buNone/>
            </a:pPr>
            <a:r>
              <a:rPr lang="en-US" sz="1600" i="1" dirty="0">
                <a:solidFill>
                  <a:srgbClr val="1C2B39"/>
                </a:solidFill>
                <a:latin typeface="Source Serif 4" pitchFamily="34" charset="0"/>
                <a:ea typeface="Source Serif 4" pitchFamily="34" charset="-122"/>
                <a:cs typeface="Source Serif 4" pitchFamily="34" charset="-120"/>
              </a:rPr>
              <a:t>“Any amounts not paid when due shall accrue interest at a rate of two percent per month until paid in full.”</a:t>
            </a:r>
            <a:endParaRPr lang="en-US" sz="1600" dirty="0"/>
          </a:p>
        </p:txBody>
      </p:sp>
      <p:sp>
        <p:nvSpPr>
          <p:cNvPr id="10" name="Text 7"/>
          <p:cNvSpPr/>
          <p:nvPr/>
        </p:nvSpPr>
        <p:spPr>
          <a:xfrm>
            <a:off x="7975600" y="4221311"/>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p. 5 · verified</a:t>
            </a:r>
            <a:endParaRPr lang="en-US" sz="1200" dirty="0"/>
          </a:p>
        </p:txBody>
      </p:sp>
      <p:sp>
        <p:nvSpPr>
          <p:cNvPr id="11" name="Text 8"/>
          <p:cNvSpPr/>
          <p:nvPr/>
        </p:nvSpPr>
        <p:spPr>
          <a:xfrm>
            <a:off x="7721600" y="4841032"/>
            <a:ext cx="3767328"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0"/>
                </a:solidFill>
                <a:latin typeface="IBM Plex Sans" pitchFamily="34" charset="0"/>
                <a:ea typeface="IBM Plex Sans" pitchFamily="34" charset="-122"/>
                <a:cs typeface="IBM Plex Sans" pitchFamily="34" charset="-120"/>
              </a:rPr>
              <a:t>The answer's path lights up on the map: TechCorp → liable for → pay interest → at rate → late payment interest.</a:t>
            </a:r>
            <a:endParaRPr lang="en-US" sz="1200" dirty="0"/>
          </a:p>
        </p:txBody>
      </p:sp>
      <p:sp>
        <p:nvSpPr>
          <p:cNvPr id="12" name="Text 9"/>
          <p:cNvSpPr/>
          <p:nvPr/>
        </p:nvSpPr>
        <p:spPr>
          <a:xfrm>
            <a:off x="812800" y="6230640"/>
            <a:ext cx="87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clausemap</a:t>
            </a:r>
            <a:endParaRPr lang="en-US" sz="1200" dirty="0"/>
          </a:p>
        </p:txBody>
      </p:sp>
      <p:sp>
        <p:nvSpPr>
          <p:cNvPr id="13" name="Text 10"/>
          <p:cNvSpPr/>
          <p:nvPr/>
        </p:nvSpPr>
        <p:spPr>
          <a:xfrm>
            <a:off x="11196290" y="623064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25" kern="0" dirty="0">
                <a:solidFill>
                  <a:srgbClr val="1C2B39"/>
                </a:solidFill>
                <a:latin typeface="IBM Plex Sans" pitchFamily="34" charset="0"/>
                <a:ea typeface="IBM Plex Sans" pitchFamily="34" charset="-122"/>
                <a:cs typeface="IBM Plex Sans" pitchFamily="34" charset="-120"/>
              </a:rPr>
              <a:t>Why not NotebookLM?</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90"/>
          <a:ext cx="10553700" cy="2041823"/>
        </p:xfrm>
        <a:graphic>
          <a:graphicData uri="http://schemas.openxmlformats.org/drawingml/2006/table">
            <a:tbl>
              <a:tblPr/>
              <a:tblGrid>
                <a:gridCol w="2321814"/>
                <a:gridCol w="3799332"/>
                <a:gridCol w="4432554"/>
              </a:tblGrid>
              <a:tr h="439341">
                <a:tc>
                  <a:txBody>
                    <a:bodyPr/>
                    <a:lstStyle/>
                    <a:p>
                      <a:pPr indent="0" marL="0">
                        <a:lnSpc>
                          <a:spcPts val="2240"/>
                        </a:lnSpc>
                        <a:buNone/>
                      </a:pPr>
                      <a:r>
                        <a:rPr lang="en-US" sz="1600" b="1" dirty="0">
                          <a:solidFill>
                            <a:srgbClr val="1C2B39"/>
                          </a:solidFill>
                          <a:latin typeface="IBM Plex Sans" pitchFamily="34" charset="0"/>
                          <a:ea typeface="IBM Plex Sans" pitchFamily="34" charset="-122"/>
                          <a:cs typeface="IBM Plex Sans" pitchFamily="34" charset="-120"/>
                        </a:rPr>
                        <a:t>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BCB8A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8AD"/>
                      </a:solidFill>
                      <a:prstDash val="solid"/>
                      <a:round/>
                      <a:headEnd type="none" w="med" len="med"/>
                      <a:tailEnd type="none" w="med" len="med"/>
                    </a:lnB>
                    <a:solidFill>
                      <a:srgbClr val="ECE6D8"/>
                    </a:solidFill>
                  </a:tcPr>
                </a:tc>
                <a:tc>
                  <a:txBody>
                    <a:bodyPr/>
                    <a:lstStyle/>
                    <a:p>
                      <a:pPr indent="0" marL="0">
                        <a:lnSpc>
                          <a:spcPts val="2240"/>
                        </a:lnSpc>
                        <a:buNone/>
                      </a:pPr>
                      <a:r>
                        <a:rPr lang="en-US" sz="1600" b="1" dirty="0">
                          <a:solidFill>
                            <a:srgbClr val="1C2B39"/>
                          </a:solidFill>
                          <a:latin typeface="IBM Plex Sans" pitchFamily="34" charset="0"/>
                          <a:ea typeface="IBM Plex Sans" pitchFamily="34" charset="-122"/>
                          <a:cs typeface="IBM Plex Sans" pitchFamily="34" charset="-120"/>
                        </a:rPr>
                        <a:t>NotebookLM mind map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8AD"/>
                      </a:solidFill>
                      <a:prstDash val="solid"/>
                      <a:round/>
                      <a:headEnd type="none" w="med" len="med"/>
                      <a:tailEnd type="none" w="med" len="med"/>
                    </a:lnL>
                    <a:lnR w="12700" cap="flat" cmpd="sng" algn="ctr">
                      <a:solidFill>
                        <a:srgbClr val="BCB8A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8AD"/>
                      </a:solidFill>
                      <a:prstDash val="solid"/>
                      <a:round/>
                      <a:headEnd type="none" w="med" len="med"/>
                      <a:tailEnd type="none" w="med" len="med"/>
                    </a:lnB>
                    <a:solidFill>
                      <a:srgbClr val="ECE6D8"/>
                    </a:solidFill>
                  </a:tcPr>
                </a:tc>
                <a:tc>
                  <a:txBody>
                    <a:bodyPr/>
                    <a:lstStyle/>
                    <a:p>
                      <a:pPr indent="0" marL="0">
                        <a:lnSpc>
                          <a:spcPts val="2240"/>
                        </a:lnSpc>
                        <a:buNone/>
                      </a:pPr>
                      <a:r>
                        <a:rPr lang="en-US" sz="1600" b="1" dirty="0">
                          <a:solidFill>
                            <a:srgbClr val="1C2B39"/>
                          </a:solidFill>
                          <a:latin typeface="IBM Plex Sans" pitchFamily="34" charset="0"/>
                          <a:ea typeface="IBM Plex Sans" pitchFamily="34" charset="-122"/>
                          <a:cs typeface="IBM Plex Sans" pitchFamily="34" charset="-120"/>
                        </a:rPr>
                        <a:t>Clausemap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8AD"/>
                      </a:solidFill>
                      <a:prstDash val="solid"/>
                      <a:round/>
                      <a:headEnd type="none" w="med" len="med"/>
                      <a:tailEnd type="none" w="med" len="med"/>
                    </a:lnL>
                    <a:lnR w="12700" cap="flat" cmpd="sng" algn="ctr">
                      <a:solidFill>
                        <a:srgbClr val="BCB8A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8AD"/>
                      </a:solidFill>
                      <a:prstDash val="solid"/>
                      <a:round/>
                      <a:headEnd type="none" w="med" len="med"/>
                      <a:tailEnd type="none" w="med" len="med"/>
                    </a:lnB>
                    <a:solidFill>
                      <a:srgbClr val="ECE6D8"/>
                    </a:solidFill>
                  </a:tcPr>
                </a:tc>
              </a:tr>
              <a:tr h="439341">
                <a:tc>
                  <a:txBody>
                    <a:bodyPr/>
                    <a:lstStyle/>
                    <a:p>
                      <a:pPr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Maps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Topics and subtopics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C2B39"/>
                          </a:solidFill>
                          <a:latin typeface="IBM Plex Sans" pitchFamily="34" charset="0"/>
                          <a:ea typeface="IBM Plex Sans" pitchFamily="34" charset="-122"/>
                          <a:cs typeface="IBM Plex Sans" pitchFamily="34" charset="-120"/>
                        </a:rPr>
                        <a:t>Parties, obligations, dates, amounts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341">
                <a:tc>
                  <a:txBody>
                    <a:bodyPr/>
                    <a:lstStyle/>
                    <a:p>
                      <a:pPr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Links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Topic to subtopic</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C2B39"/>
                          </a:solidFill>
                          <a:latin typeface="IBM Plex Sans" pitchFamily="34" charset="0"/>
                          <a:ea typeface="IBM Plex Sans" pitchFamily="34" charset="-122"/>
                          <a:cs typeface="IBM Plex Sans" pitchFamily="34" charset="-120"/>
                        </a:rPr>
                        <a:t>Typed: must perform, liable for, due by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723801">
                <a:tc>
                  <a:txBody>
                    <a:bodyPr/>
                    <a:lstStyle/>
                    <a:p>
                      <a:pPr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Evidence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Citations in chat answers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C2B39"/>
                          </a:solidFill>
                          <a:latin typeface="IBM Plex Sans" pitchFamily="34" charset="0"/>
                          <a:ea typeface="IBM Plex Sans" pitchFamily="34" charset="-122"/>
                          <a:cs typeface="IBM Plex Sans" pitchFamily="34" charset="-120"/>
                        </a:rPr>
                        <a:t>A verified quote and page on every node and link</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4" name="Text 1"/>
          <p:cNvSpPr/>
          <p:nvPr/>
        </p:nvSpPr>
        <p:spPr>
          <a:xfrm>
            <a:off x="812800" y="5115620"/>
            <a:ext cx="9810750" cy="75178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1C2B39"/>
                </a:solidFill>
                <a:latin typeface="IBM Plex Sans" pitchFamily="34" charset="0"/>
                <a:ea typeface="IBM Plex Sans" pitchFamily="34" charset="-122"/>
                <a:cs typeface="IBM Plex Sans" pitchFamily="34" charset="-120"/>
              </a:rPr>
              <a:t>NotebookLM maps topics. Clausemap maps obligations, and every line on it is quoted verbatim.</a:t>
            </a:r>
            <a:endParaRPr lang="en-US" sz="2200" dirty="0"/>
          </a:p>
        </p:txBody>
      </p:sp>
      <p:sp>
        <p:nvSpPr>
          <p:cNvPr id="5" name="Text 2"/>
          <p:cNvSpPr/>
          <p:nvPr/>
        </p:nvSpPr>
        <p:spPr>
          <a:xfrm>
            <a:off x="812800" y="6230640"/>
            <a:ext cx="87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clausemap</a:t>
            </a:r>
            <a:endParaRPr lang="en-US" sz="1200" dirty="0"/>
          </a:p>
        </p:txBody>
      </p:sp>
      <p:sp>
        <p:nvSpPr>
          <p:cNvPr id="6" name="Text 3"/>
          <p:cNvSpPr/>
          <p:nvPr/>
        </p:nvSpPr>
        <p:spPr>
          <a:xfrm>
            <a:off x="11196290" y="623064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25" kern="0" dirty="0">
                <a:solidFill>
                  <a:srgbClr val="1C2B39"/>
                </a:solidFill>
                <a:latin typeface="IBM Plex Sans" pitchFamily="34" charset="0"/>
                <a:ea typeface="IBM Plex Sans" pitchFamily="34" charset="-122"/>
                <a:cs typeface="IBM Plex Sans" pitchFamily="34" charset="-120"/>
              </a:rPr>
              <a:t>Who pays, and why</a:t>
            </a:r>
            <a:endParaRPr lang="en-US" sz="3600" dirty="0"/>
          </a:p>
        </p:txBody>
      </p:sp>
      <p:sp>
        <p:nvSpPr>
          <p:cNvPr id="3" name="Shape 1"/>
          <p:cNvSpPr/>
          <p:nvPr/>
        </p:nvSpPr>
        <p:spPr>
          <a:xfrm>
            <a:off x="815975" y="1623665"/>
            <a:ext cx="3380284" cy="2505571"/>
          </a:xfrm>
          <a:prstGeom prst="roundRect">
            <a:avLst>
              <a:gd name="adj" fmla="val 2915"/>
            </a:avLst>
          </a:prstGeom>
          <a:solidFill>
            <a:srgbClr val="FBF9F4"/>
          </a:solidFill>
          <a:ln w="6350">
            <a:solidFill>
              <a:srgbClr val="D8D2C4"/>
            </a:solidFill>
            <a:prstDash val="solid"/>
          </a:ln>
        </p:spPr>
      </p:sp>
      <p:sp>
        <p:nvSpPr>
          <p:cNvPr id="4" name="Text 2"/>
          <p:cNvSpPr/>
          <p:nvPr/>
        </p:nvSpPr>
        <p:spPr>
          <a:xfrm>
            <a:off x="1123950" y="1931640"/>
            <a:ext cx="28472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416"/>
                </a:solidFill>
                <a:latin typeface="IBM Plex Mono" pitchFamily="34" charset="0"/>
                <a:ea typeface="IBM Plex Mono" pitchFamily="34" charset="-122"/>
                <a:cs typeface="IBM Plex Mono" pitchFamily="34" charset="-120"/>
              </a:rPr>
              <a:t>BUYER</a:t>
            </a:r>
            <a:endParaRPr lang="en-US" sz="1200" dirty="0"/>
          </a:p>
        </p:txBody>
      </p:sp>
      <p:sp>
        <p:nvSpPr>
          <p:cNvPr id="5" name="Text 3"/>
          <p:cNvSpPr/>
          <p:nvPr/>
        </p:nvSpPr>
        <p:spPr>
          <a:xfrm>
            <a:off x="1123950" y="2246561"/>
            <a:ext cx="284726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2B39"/>
                </a:solidFill>
                <a:latin typeface="IBM Plex Sans" pitchFamily="34" charset="0"/>
                <a:ea typeface="IBM Plex Sans" pitchFamily="34" charset="-122"/>
                <a:cs typeface="IBM Plex Sans" pitchFamily="34" charset="-120"/>
              </a:rPr>
              <a:t>Review teams</a:t>
            </a:r>
            <a:endParaRPr lang="en-US" sz="2200" dirty="0"/>
          </a:p>
        </p:txBody>
      </p:sp>
      <p:sp>
        <p:nvSpPr>
          <p:cNvPr id="6" name="Text 4"/>
          <p:cNvSpPr/>
          <p:nvPr/>
        </p:nvSpPr>
        <p:spPr>
          <a:xfrm>
            <a:off x="1123950" y="2683421"/>
            <a:ext cx="2847264"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Due diligence, contract review, legal ops and consulting: people who must be right and prove it.</a:t>
            </a:r>
            <a:endParaRPr lang="en-US" sz="1600" dirty="0"/>
          </a:p>
        </p:txBody>
      </p:sp>
      <p:sp>
        <p:nvSpPr>
          <p:cNvPr id="7" name="Shape 5"/>
          <p:cNvSpPr/>
          <p:nvPr/>
        </p:nvSpPr>
        <p:spPr>
          <a:xfrm>
            <a:off x="4405809" y="1623665"/>
            <a:ext cx="3380333" cy="2505571"/>
          </a:xfrm>
          <a:prstGeom prst="roundRect">
            <a:avLst>
              <a:gd name="adj" fmla="val 2915"/>
            </a:avLst>
          </a:prstGeom>
          <a:solidFill>
            <a:srgbClr val="FBF9F4"/>
          </a:solidFill>
          <a:ln w="6350">
            <a:solidFill>
              <a:srgbClr val="D8D2C4"/>
            </a:solidFill>
            <a:prstDash val="solid"/>
          </a:ln>
        </p:spPr>
      </p:sp>
      <p:sp>
        <p:nvSpPr>
          <p:cNvPr id="8" name="Text 6"/>
          <p:cNvSpPr/>
          <p:nvPr/>
        </p:nvSpPr>
        <p:spPr>
          <a:xfrm>
            <a:off x="4713784" y="1931640"/>
            <a:ext cx="284731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416"/>
                </a:solidFill>
                <a:latin typeface="IBM Plex Mono" pitchFamily="34" charset="0"/>
                <a:ea typeface="IBM Plex Mono" pitchFamily="34" charset="-122"/>
                <a:cs typeface="IBM Plex Mono" pitchFamily="34" charset="-120"/>
              </a:rPr>
              <a:t>THE JOB</a:t>
            </a:r>
            <a:endParaRPr lang="en-US" sz="1200" dirty="0"/>
          </a:p>
        </p:txBody>
      </p:sp>
      <p:sp>
        <p:nvSpPr>
          <p:cNvPr id="9" name="Text 7"/>
          <p:cNvSpPr/>
          <p:nvPr/>
        </p:nvSpPr>
        <p:spPr>
          <a:xfrm>
            <a:off x="4713784" y="2246561"/>
            <a:ext cx="284731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2B39"/>
                </a:solidFill>
                <a:latin typeface="IBM Plex Sans" pitchFamily="34" charset="0"/>
                <a:ea typeface="IBM Plex Sans" pitchFamily="34" charset="-122"/>
                <a:cs typeface="IBM Plex Sans" pitchFamily="34" charset="-120"/>
              </a:rPr>
              <a:t>The first pass</a:t>
            </a:r>
            <a:endParaRPr lang="en-US" sz="2200" dirty="0"/>
          </a:p>
        </p:txBody>
      </p:sp>
      <p:sp>
        <p:nvSpPr>
          <p:cNvPr id="10" name="Text 8"/>
          <p:cNvSpPr/>
          <p:nvPr/>
        </p:nvSpPr>
        <p:spPr>
          <a:xfrm>
            <a:off x="4713784" y="2683421"/>
            <a:ext cx="2847315"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Parties, obligations, deadlines and amounts for every incoming agreement, with citations ready for the memo.</a:t>
            </a:r>
            <a:endParaRPr lang="en-US" sz="1600" dirty="0"/>
          </a:p>
        </p:txBody>
      </p:sp>
      <p:sp>
        <p:nvSpPr>
          <p:cNvPr id="11" name="Shape 9"/>
          <p:cNvSpPr/>
          <p:nvPr/>
        </p:nvSpPr>
        <p:spPr>
          <a:xfrm>
            <a:off x="7995692" y="1623665"/>
            <a:ext cx="3380333" cy="2505571"/>
          </a:xfrm>
          <a:prstGeom prst="roundRect">
            <a:avLst>
              <a:gd name="adj" fmla="val 2915"/>
            </a:avLst>
          </a:prstGeom>
          <a:solidFill>
            <a:srgbClr val="FBF9F4"/>
          </a:solidFill>
          <a:ln w="6350">
            <a:solidFill>
              <a:srgbClr val="D8D2C4"/>
            </a:solidFill>
            <a:prstDash val="solid"/>
          </a:ln>
        </p:spPr>
      </p:sp>
      <p:sp>
        <p:nvSpPr>
          <p:cNvPr id="12" name="Text 10"/>
          <p:cNvSpPr/>
          <p:nvPr/>
        </p:nvSpPr>
        <p:spPr>
          <a:xfrm>
            <a:off x="8303667" y="1931640"/>
            <a:ext cx="284731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416"/>
                </a:solidFill>
                <a:latin typeface="IBM Plex Mono" pitchFamily="34" charset="0"/>
                <a:ea typeface="IBM Plex Mono" pitchFamily="34" charset="-122"/>
                <a:cs typeface="IBM Plex Mono" pitchFamily="34" charset="-120"/>
              </a:rPr>
              <a:t>PRICING</a:t>
            </a:r>
            <a:endParaRPr lang="en-US" sz="1200" dirty="0"/>
          </a:p>
        </p:txBody>
      </p:sp>
      <p:sp>
        <p:nvSpPr>
          <p:cNvPr id="13" name="Text 11"/>
          <p:cNvSpPr/>
          <p:nvPr/>
        </p:nvSpPr>
        <p:spPr>
          <a:xfrm>
            <a:off x="8303667" y="2246561"/>
            <a:ext cx="284731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2B39"/>
                </a:solidFill>
                <a:latin typeface="IBM Plex Sans" pitchFamily="34" charset="0"/>
                <a:ea typeface="IBM Plex Sans" pitchFamily="34" charset="-122"/>
                <a:cs typeface="IBM Plex Sans" pitchFamily="34" charset="-120"/>
              </a:rPr>
              <a:t>Per seat</a:t>
            </a:r>
            <a:endParaRPr lang="en-US" sz="2200" dirty="0"/>
          </a:p>
        </p:txBody>
      </p:sp>
      <p:sp>
        <p:nvSpPr>
          <p:cNvPr id="14" name="Text 12"/>
          <p:cNvSpPr/>
          <p:nvPr/>
        </p:nvSpPr>
        <p:spPr>
          <a:xfrm>
            <a:off x="8303667" y="2683421"/>
            <a:ext cx="2847315"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[€__] per seat per month. Team plan with EU hosting at [€__] per seat.</a:t>
            </a:r>
            <a:endParaRPr lang="en-US" sz="1600" dirty="0"/>
          </a:p>
        </p:txBody>
      </p:sp>
      <p:sp>
        <p:nvSpPr>
          <p:cNvPr id="15" name="Text 13"/>
          <p:cNvSpPr/>
          <p:nvPr/>
        </p:nvSpPr>
        <p:spPr>
          <a:xfrm>
            <a:off x="812800" y="5115620"/>
            <a:ext cx="9810750" cy="75178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1C2B39"/>
                </a:solidFill>
                <a:latin typeface="IBM Plex Sans" pitchFamily="34" charset="0"/>
                <a:ea typeface="IBM Plex Sans" pitchFamily="34" charset="-122"/>
                <a:cs typeface="IBM Plex Sans" pitchFamily="34" charset="-120"/>
              </a:rPr>
              <a:t>Land</a:t>
            </a:r>
            <a:r>
              <a:rPr lang="en-US" sz="2200" dirty="0">
                <a:solidFill>
                  <a:srgbClr val="1C2B39"/>
                </a:solidFill>
                <a:latin typeface="IBM Plex Sans" pitchFamily="34" charset="0"/>
                <a:ea typeface="IBM Plex Sans" pitchFamily="34" charset="-122"/>
                <a:cs typeface="IBM Plex Sans" pitchFamily="34" charset="-120"/>
              </a:rPr>
              <a:t> with the first pass. </a:t>
            </a:r>
            <a:r>
              <a:rPr lang="en-US" sz="2200" b="1" dirty="0">
                <a:solidFill>
                  <a:srgbClr val="1C2B39"/>
                </a:solidFill>
                <a:latin typeface="IBM Plex Sans" pitchFamily="34" charset="0"/>
                <a:ea typeface="IBM Plex Sans" pitchFamily="34" charset="-122"/>
                <a:cs typeface="IBM Plex Sans" pitchFamily="34" charset="-120"/>
              </a:rPr>
              <a:t>Expand</a:t>
            </a:r>
            <a:r>
              <a:rPr lang="en-US" sz="2200" dirty="0">
                <a:solidFill>
                  <a:srgbClr val="1C2B39"/>
                </a:solidFill>
                <a:latin typeface="IBM Plex Sans" pitchFamily="34" charset="0"/>
                <a:ea typeface="IBM Plex Sans" pitchFamily="34" charset="-122"/>
                <a:cs typeface="IBM Plex Sans" pitchFamily="34" charset="-120"/>
              </a:rPr>
              <a:t> with contract version comparison and export to a review memo.</a:t>
            </a:r>
            <a:endParaRPr lang="en-US" sz="2200" dirty="0"/>
          </a:p>
        </p:txBody>
      </p:sp>
      <p:sp>
        <p:nvSpPr>
          <p:cNvPr id="16" name="Text 14"/>
          <p:cNvSpPr/>
          <p:nvPr/>
        </p:nvSpPr>
        <p:spPr>
          <a:xfrm>
            <a:off x="812800" y="6230640"/>
            <a:ext cx="87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clausemap</a:t>
            </a:r>
            <a:endParaRPr lang="en-US" sz="1200" dirty="0"/>
          </a:p>
        </p:txBody>
      </p:sp>
      <p:sp>
        <p:nvSpPr>
          <p:cNvPr id="17" name="Text 15"/>
          <p:cNvSpPr/>
          <p:nvPr/>
        </p:nvSpPr>
        <p:spPr>
          <a:xfrm>
            <a:off x="11196290" y="623064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25" kern="0" dirty="0">
                <a:solidFill>
                  <a:srgbClr val="1C2B39"/>
                </a:solidFill>
                <a:latin typeface="IBM Plex Sans" pitchFamily="34" charset="0"/>
                <a:ea typeface="IBM Plex Sans" pitchFamily="34" charset="-122"/>
                <a:cs typeface="IBM Plex Sans" pitchFamily="34" charset="-120"/>
              </a:rPr>
              <a:t>Where does the document go?</a:t>
            </a:r>
            <a:endParaRPr lang="en-US" sz="3600" dirty="0"/>
          </a:p>
        </p:txBody>
      </p:sp>
      <p:sp>
        <p:nvSpPr>
          <p:cNvPr id="3" name="Text 1"/>
          <p:cNvSpPr/>
          <p:nvPr/>
        </p:nvSpPr>
        <p:spPr>
          <a:xfrm>
            <a:off x="812800" y="1620490"/>
            <a:ext cx="685444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2B39"/>
                </a:solidFill>
                <a:latin typeface="IBM Plex Sans" pitchFamily="34" charset="0"/>
                <a:ea typeface="IBM Plex Sans" pitchFamily="34" charset="-122"/>
                <a:cs typeface="IBM Plex Sans" pitchFamily="34" charset="-120"/>
              </a:rPr>
              <a:t>Nothing is kept</a:t>
            </a:r>
            <a:endParaRPr lang="en-US" sz="2200" dirty="0"/>
          </a:p>
        </p:txBody>
      </p:sp>
      <p:sp>
        <p:nvSpPr>
          <p:cNvPr id="4" name="Text 2"/>
          <p:cNvSpPr/>
          <p:nvPr/>
        </p:nvSpPr>
        <p:spPr>
          <a:xfrm>
            <a:off x="812800" y="2006550"/>
            <a:ext cx="68544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Documents are processed for the map, then discarded. Nothing is kept after it's built.</a:t>
            </a:r>
            <a:endParaRPr lang="en-US" sz="1600" dirty="0"/>
          </a:p>
        </p:txBody>
      </p:sp>
      <p:sp>
        <p:nvSpPr>
          <p:cNvPr id="5" name="Text 3"/>
          <p:cNvSpPr/>
          <p:nvPr/>
        </p:nvSpPr>
        <p:spPr>
          <a:xfrm>
            <a:off x="812800" y="2829471"/>
            <a:ext cx="685444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2B39"/>
                </a:solidFill>
                <a:latin typeface="IBM Plex Sans" pitchFamily="34" charset="0"/>
                <a:ea typeface="IBM Plex Sans" pitchFamily="34" charset="-122"/>
                <a:cs typeface="IBM Plex Sans" pitchFamily="34" charset="-120"/>
              </a:rPr>
              <a:t>The provider is named</a:t>
            </a:r>
            <a:endParaRPr lang="en-US" sz="2200" dirty="0"/>
          </a:p>
        </p:txBody>
      </p:sp>
      <p:sp>
        <p:nvSpPr>
          <p:cNvPr id="6" name="Text 4"/>
          <p:cNvSpPr/>
          <p:nvPr/>
        </p:nvSpPr>
        <p:spPr>
          <a:xfrm>
            <a:off x="812800" y="3215531"/>
            <a:ext cx="68544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The upload screen says where the text goes: “Your PDF is sent to OpenAI to read it.”</a:t>
            </a:r>
            <a:endParaRPr lang="en-US" sz="1600" dirty="0"/>
          </a:p>
        </p:txBody>
      </p:sp>
      <p:sp>
        <p:nvSpPr>
          <p:cNvPr id="7" name="Text 5"/>
          <p:cNvSpPr/>
          <p:nvPr/>
        </p:nvSpPr>
        <p:spPr>
          <a:xfrm>
            <a:off x="812800" y="4038451"/>
            <a:ext cx="685444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2B39"/>
                </a:solidFill>
                <a:latin typeface="IBM Plex Sans" pitchFamily="34" charset="0"/>
                <a:ea typeface="IBM Plex Sans" pitchFamily="34" charset="-122"/>
                <a:cs typeface="IBM Plex Sans" pitchFamily="34" charset="-120"/>
              </a:rPr>
              <a:t>A map, not a verdict</a:t>
            </a:r>
            <a:endParaRPr lang="en-US" sz="2200" dirty="0"/>
          </a:p>
        </p:txBody>
      </p:sp>
      <p:sp>
        <p:nvSpPr>
          <p:cNvPr id="8" name="Text 6"/>
          <p:cNvSpPr/>
          <p:nvPr/>
        </p:nvSpPr>
        <p:spPr>
          <a:xfrm>
            <a:off x="812800" y="4424511"/>
            <a:ext cx="68544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Every map says it isn't legal advice, and never claims to have found every obligation.</a:t>
            </a:r>
            <a:endParaRPr lang="en-US" sz="1600" dirty="0"/>
          </a:p>
        </p:txBody>
      </p:sp>
      <p:sp>
        <p:nvSpPr>
          <p:cNvPr id="9" name="Shape 7"/>
          <p:cNvSpPr/>
          <p:nvPr/>
        </p:nvSpPr>
        <p:spPr>
          <a:xfrm>
            <a:off x="8077200" y="1620490"/>
            <a:ext cx="3302000" cy="3416300"/>
          </a:xfrm>
          <a:prstGeom prst="roundRect">
            <a:avLst>
              <a:gd name="adj" fmla="val 2308"/>
            </a:avLst>
          </a:prstGeom>
          <a:solidFill>
            <a:srgbClr val="F6F3EC"/>
          </a:solidFill>
          <a:ln/>
        </p:spPr>
      </p:sp>
      <p:pic>
        <p:nvPicPr>
          <p:cNvPr id="10" name="Image 0" descr="Clausemap upload screen with the tagline, a PDF drop zone, the line 'Your PDF is sent to OpenAI to read it. Nothing is kept after your map is built.' and two demo documents">    </p:cNvPr>
          <p:cNvPicPr>
            <a:picLocks noChangeAspect="1"/>
          </p:cNvPicPr>
          <p:nvPr/>
        </p:nvPicPr>
        <p:blipFill>
          <a:blip r:embed="rId1"/>
          <a:srcRect l="0" r="0" t="-13" b="-13"/>
          <a:stretch/>
        </p:blipFill>
        <p:spPr>
          <a:xfrm>
            <a:off x="8083550" y="1626840"/>
            <a:ext cx="3289300" cy="3403600"/>
          </a:xfrm>
          <a:prstGeom prst="roundRect">
            <a:avLst>
              <a:gd name="adj" fmla="val 2124"/>
            </a:avLst>
          </a:prstGeom>
        </p:spPr>
      </p:pic>
      <p:sp>
        <p:nvSpPr>
          <p:cNvPr id="11" name="Shape 8"/>
          <p:cNvSpPr/>
          <p:nvPr/>
        </p:nvSpPr>
        <p:spPr>
          <a:xfrm>
            <a:off x="8080375" y="1623665"/>
            <a:ext cx="3295650" cy="3409950"/>
          </a:xfrm>
          <a:prstGeom prst="roundRect">
            <a:avLst>
              <a:gd name="adj" fmla="val 2216"/>
            </a:avLst>
          </a:prstGeom>
          <a:noFill/>
          <a:ln w="6350">
            <a:solidFill>
              <a:srgbClr val="B9B4A8"/>
            </a:solidFill>
            <a:prstDash val="solid"/>
          </a:ln>
        </p:spPr>
      </p:sp>
      <p:sp>
        <p:nvSpPr>
          <p:cNvPr id="12" name="Text 9"/>
          <p:cNvSpPr/>
          <p:nvPr/>
        </p:nvSpPr>
        <p:spPr>
          <a:xfrm>
            <a:off x="812800" y="6230640"/>
            <a:ext cx="87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clausemap</a:t>
            </a:r>
            <a:endParaRPr lang="en-US" sz="1200" dirty="0"/>
          </a:p>
        </p:txBody>
      </p:sp>
      <p:sp>
        <p:nvSpPr>
          <p:cNvPr id="13" name="Text 10"/>
          <p:cNvSpPr/>
          <p:nvPr/>
        </p:nvSpPr>
        <p:spPr>
          <a:xfrm>
            <a:off x="11196290" y="623064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ADF"/>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25" kern="0" dirty="0">
                <a:solidFill>
                  <a:srgbClr val="1C2B39"/>
                </a:solidFill>
                <a:latin typeface="IBM Plex Sans" pitchFamily="34" charset="0"/>
                <a:ea typeface="IBM Plex Sans" pitchFamily="34" charset="-122"/>
                <a:cs typeface="IBM Plex Sans" pitchFamily="34" charset="-120"/>
              </a:rPr>
              <a:t>What's built, and what comes next</a:t>
            </a:r>
            <a:endParaRPr lang="en-US" sz="3600" dirty="0"/>
          </a:p>
        </p:txBody>
      </p:sp>
      <p:sp>
        <p:nvSpPr>
          <p:cNvPr id="3" name="Shape 1"/>
          <p:cNvSpPr/>
          <p:nvPr/>
        </p:nvSpPr>
        <p:spPr>
          <a:xfrm>
            <a:off x="815975" y="1623665"/>
            <a:ext cx="3380284" cy="3257352"/>
          </a:xfrm>
          <a:prstGeom prst="roundRect">
            <a:avLst>
              <a:gd name="adj" fmla="val 2242"/>
            </a:avLst>
          </a:prstGeom>
          <a:solidFill>
            <a:srgbClr val="F9F7F2"/>
          </a:solidFill>
          <a:ln w="6350">
            <a:solidFill>
              <a:srgbClr val="D8D2C4"/>
            </a:solidFill>
            <a:prstDash val="solid"/>
          </a:ln>
        </p:spPr>
      </p:sp>
      <p:sp>
        <p:nvSpPr>
          <p:cNvPr id="4" name="Text 2"/>
          <p:cNvSpPr/>
          <p:nvPr/>
        </p:nvSpPr>
        <p:spPr>
          <a:xfrm>
            <a:off x="1123950" y="1931640"/>
            <a:ext cx="28472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416"/>
                </a:solidFill>
                <a:latin typeface="IBM Plex Mono" pitchFamily="34" charset="0"/>
                <a:ea typeface="IBM Plex Mono" pitchFamily="34" charset="-122"/>
                <a:cs typeface="IBM Plex Mono" pitchFamily="34" charset="-120"/>
              </a:rPr>
              <a:t>BUILT TODAY</a:t>
            </a:r>
            <a:endParaRPr lang="en-US" sz="1200" dirty="0"/>
          </a:p>
        </p:txBody>
      </p:sp>
      <p:sp>
        <p:nvSpPr>
          <p:cNvPr id="5" name="Text 3"/>
          <p:cNvSpPr/>
          <p:nvPr/>
        </p:nvSpPr>
        <p:spPr>
          <a:xfrm>
            <a:off x="1123950" y="2297361"/>
            <a:ext cx="2847264" cy="2301081"/>
          </a:xfrm>
          <a:prstGeom prst="rect">
            <a:avLst/>
          </a:prstGeom>
          <a:noFill/>
          <a:ln/>
        </p:spPr>
        <p:txBody>
          <a:bodyPr wrap="square" lIns="0" tIns="0" rIns="0" bIns="0" rtlCol="0" anchor="t">
            <a:normAutofit/>
          </a:bodyPr>
          <a:lstStyle/>
          <a:p>
            <a:pPr algn="l" marL="243840" indent="-196342">
              <a:lnSpc>
                <a:spcPts val="2240"/>
              </a:lnSpc>
              <a:buSzPct val="100000"/>
              <a:buChar char="•"/>
            </a:pPr>
            <a:r>
              <a:rPr lang="en-US" sz="1600" dirty="0">
                <a:solidFill>
                  <a:srgbClr val="1C2B39"/>
                </a:solidFill>
                <a:latin typeface="IBM Plex Sans" pitchFamily="34" charset="0"/>
                <a:ea typeface="IBM Plex Sans" pitchFamily="34" charset="-122"/>
                <a:cs typeface="IBM Plex Sans" pitchFamily="34" charset="-120"/>
              </a:rPr>
              <a:t>Text PDFs up to 10 MB</a:t>
            </a:r>
            <a:endParaRPr lang="en-US" sz="1600" dirty="0"/>
          </a:p>
          <a:p>
            <a:pPr algn="l" marL="243840" indent="-196342">
              <a:lnSpc>
                <a:spcPts val="2240"/>
              </a:lnSpc>
              <a:buSzPct val="100000"/>
              <a:buChar char="•"/>
            </a:pPr>
            <a:r>
              <a:rPr lang="en-US" sz="1600" dirty="0">
                <a:solidFill>
                  <a:srgbClr val="1C2B39"/>
                </a:solidFill>
                <a:latin typeface="IBM Plex Sans" pitchFamily="34" charset="0"/>
                <a:ea typeface="IBM Plex Sans" pitchFamily="34" charset="-122"/>
                <a:cs typeface="IBM Plex Sans" pitchFamily="34" charset="-120"/>
              </a:rPr>
              <a:t>Five item types, typed links</a:t>
            </a:r>
            <a:endParaRPr lang="en-US" sz="1600" dirty="0"/>
          </a:p>
          <a:p>
            <a:pPr algn="l" marL="243840" indent="-196342">
              <a:lnSpc>
                <a:spcPts val="2240"/>
              </a:lnSpc>
              <a:buSzPct val="100000"/>
              <a:buChar char="•"/>
            </a:pPr>
            <a:r>
              <a:rPr lang="en-US" sz="1600" dirty="0">
                <a:solidFill>
                  <a:srgbClr val="1C2B39"/>
                </a:solidFill>
                <a:latin typeface="IBM Plex Sans" pitchFamily="34" charset="0"/>
                <a:ea typeface="IBM Plex Sans" pitchFamily="34" charset="-122"/>
                <a:cs typeface="IBM Plex Sans" pitchFamily="34" charset="-120"/>
              </a:rPr>
              <a:t>Every quote verified on its page</a:t>
            </a:r>
            <a:endParaRPr lang="en-US" sz="1600" dirty="0"/>
          </a:p>
          <a:p>
            <a:pPr algn="l" marL="243840" indent="-196342">
              <a:lnSpc>
                <a:spcPts val="2240"/>
              </a:lnSpc>
              <a:buSzPct val="100000"/>
              <a:buChar char="•"/>
            </a:pPr>
            <a:r>
              <a:rPr lang="en-US" sz="1600" dirty="0">
                <a:solidFill>
                  <a:srgbClr val="1C2B39"/>
                </a:solidFill>
                <a:latin typeface="IBM Plex Sans" pitchFamily="34" charset="0"/>
                <a:ea typeface="IBM Plex Sans" pitchFamily="34" charset="-122"/>
                <a:cs typeface="IBM Plex Sans" pitchFamily="34" charset="-120"/>
              </a:rPr>
              <a:t>Duplicates merged</a:t>
            </a:r>
            <a:endParaRPr lang="en-US" sz="1600" dirty="0"/>
          </a:p>
          <a:p>
            <a:pPr algn="l" marL="243840" indent="-196342">
              <a:lnSpc>
                <a:spcPts val="2240"/>
              </a:lnSpc>
              <a:buSzPct val="100000"/>
              <a:buChar char="•"/>
            </a:pPr>
            <a:r>
              <a:rPr lang="en-US" sz="1600" dirty="0">
                <a:solidFill>
                  <a:srgbClr val="1C2B39"/>
                </a:solidFill>
                <a:latin typeface="IBM Plex Sans" pitchFamily="34" charset="0"/>
                <a:ea typeface="IBM Plex Sans" pitchFamily="34" charset="-122"/>
                <a:cs typeface="IBM Plex Sans" pitchFamily="34" charset="-120"/>
              </a:rPr>
              <a:t>Filter, search, overview</a:t>
            </a:r>
            <a:endParaRPr lang="en-US" sz="1600" dirty="0"/>
          </a:p>
          <a:p>
            <a:pPr algn="l" marL="243840" indent="-196342">
              <a:lnSpc>
                <a:spcPts val="2240"/>
              </a:lnSpc>
              <a:buSzPct val="100000"/>
              <a:buChar char="•"/>
            </a:pPr>
            <a:r>
              <a:rPr lang="en-US" sz="1600" dirty="0">
                <a:solidFill>
                  <a:srgbClr val="1C2B39"/>
                </a:solidFill>
                <a:latin typeface="IBM Plex Sans" pitchFamily="34" charset="0"/>
                <a:ea typeface="IBM Plex Sans" pitchFamily="34" charset="-122"/>
                <a:cs typeface="IBM Plex Sans" pitchFamily="34" charset="-120"/>
              </a:rPr>
              <a:t>Questions answered with sources</a:t>
            </a:r>
            <a:endParaRPr lang="en-US" sz="1600" dirty="0"/>
          </a:p>
        </p:txBody>
      </p:sp>
      <p:sp>
        <p:nvSpPr>
          <p:cNvPr id="6" name="Shape 4"/>
          <p:cNvSpPr/>
          <p:nvPr/>
        </p:nvSpPr>
        <p:spPr>
          <a:xfrm>
            <a:off x="4405809" y="1623665"/>
            <a:ext cx="3380333" cy="3257352"/>
          </a:xfrm>
          <a:prstGeom prst="roundRect">
            <a:avLst>
              <a:gd name="adj" fmla="val 2242"/>
            </a:avLst>
          </a:prstGeom>
          <a:solidFill>
            <a:srgbClr val="F9F7F2"/>
          </a:solidFill>
          <a:ln w="6350">
            <a:solidFill>
              <a:srgbClr val="D8D2C4"/>
            </a:solidFill>
            <a:prstDash val="solid"/>
          </a:ln>
        </p:spPr>
      </p:sp>
      <p:sp>
        <p:nvSpPr>
          <p:cNvPr id="7" name="Text 5"/>
          <p:cNvSpPr/>
          <p:nvPr/>
        </p:nvSpPr>
        <p:spPr>
          <a:xfrm>
            <a:off x="4713784" y="1931640"/>
            <a:ext cx="284731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416"/>
                </a:solidFill>
                <a:latin typeface="IBM Plex Mono" pitchFamily="34" charset="0"/>
                <a:ea typeface="IBM Plex Mono" pitchFamily="34" charset="-122"/>
                <a:cs typeface="IBM Plex Mono" pitchFamily="34" charset="-120"/>
              </a:rPr>
              <a:t>BEFORE A PILOT</a:t>
            </a:r>
            <a:endParaRPr lang="en-US" sz="1200" dirty="0"/>
          </a:p>
        </p:txBody>
      </p:sp>
      <p:sp>
        <p:nvSpPr>
          <p:cNvPr id="8" name="Text 6"/>
          <p:cNvSpPr/>
          <p:nvPr/>
        </p:nvSpPr>
        <p:spPr>
          <a:xfrm>
            <a:off x="4713784" y="2297361"/>
            <a:ext cx="2847315" cy="1447701"/>
          </a:xfrm>
          <a:prstGeom prst="rect">
            <a:avLst/>
          </a:prstGeom>
          <a:noFill/>
          <a:ln/>
        </p:spPr>
        <p:txBody>
          <a:bodyPr wrap="square" lIns="0" tIns="0" rIns="0" bIns="0" rtlCol="0" anchor="t">
            <a:normAutofit/>
          </a:bodyPr>
          <a:lstStyle/>
          <a:p>
            <a:pPr algn="l" marL="243840" indent="-196342">
              <a:lnSpc>
                <a:spcPts val="2240"/>
              </a:lnSpc>
              <a:buSzPct val="100000"/>
              <a:buChar char="•"/>
            </a:pPr>
            <a:r>
              <a:rPr lang="en-US" sz="1600" dirty="0">
                <a:solidFill>
                  <a:srgbClr val="1C2B39"/>
                </a:solidFill>
                <a:latin typeface="IBM Plex Sans" pitchFamily="34" charset="0"/>
                <a:ea typeface="IBM Plex Sans" pitchFamily="34" charset="-122"/>
                <a:cs typeface="IBM Plex Sans" pitchFamily="34" charset="-120"/>
              </a:rPr>
              <a:t>Scanned PDFs (OCR)</a:t>
            </a:r>
            <a:endParaRPr lang="en-US" sz="1600" dirty="0"/>
          </a:p>
          <a:p>
            <a:pPr algn="l" marL="243840" indent="-196342">
              <a:lnSpc>
                <a:spcPts val="2240"/>
              </a:lnSpc>
              <a:buSzPct val="100000"/>
              <a:buChar char="•"/>
            </a:pPr>
            <a:r>
              <a:rPr lang="en-US" sz="1600" dirty="0">
                <a:solidFill>
                  <a:srgbClr val="1C2B39"/>
                </a:solidFill>
                <a:latin typeface="IBM Plex Sans" pitchFamily="34" charset="0"/>
                <a:ea typeface="IBM Plex Sans" pitchFamily="34" charset="-122"/>
                <a:cs typeface="IBM Plex Sans" pitchFamily="34" charset="-120"/>
              </a:rPr>
              <a:t>Background jobs for long files</a:t>
            </a:r>
            <a:endParaRPr lang="en-US" sz="1600" dirty="0"/>
          </a:p>
          <a:p>
            <a:pPr algn="l" marL="243840" indent="-196342">
              <a:lnSpc>
                <a:spcPts val="2240"/>
              </a:lnSpc>
              <a:buSzPct val="100000"/>
              <a:buChar char="•"/>
            </a:pPr>
            <a:r>
              <a:rPr lang="en-US" sz="1600" dirty="0">
                <a:solidFill>
                  <a:srgbClr val="1C2B39"/>
                </a:solidFill>
                <a:latin typeface="IBM Plex Sans" pitchFamily="34" charset="0"/>
                <a:ea typeface="IBM Plex Sans" pitchFamily="34" charset="-122"/>
                <a:cs typeface="IBM Plex Sans" pitchFamily="34" charset="-120"/>
              </a:rPr>
              <a:t>Export to a review memo</a:t>
            </a:r>
            <a:endParaRPr lang="en-US" sz="1600" dirty="0"/>
          </a:p>
          <a:p>
            <a:pPr algn="l" marL="243840" indent="-196342">
              <a:lnSpc>
                <a:spcPts val="2240"/>
              </a:lnSpc>
              <a:buSzPct val="100000"/>
              <a:buChar char="•"/>
            </a:pPr>
            <a:r>
              <a:rPr lang="en-US" sz="1600" dirty="0">
                <a:solidFill>
                  <a:srgbClr val="1C2B39"/>
                </a:solidFill>
                <a:latin typeface="IBM Plex Sans" pitchFamily="34" charset="0"/>
                <a:ea typeface="IBM Plex Sans" pitchFamily="34" charset="-122"/>
                <a:cs typeface="IBM Plex Sans" pitchFamily="34" charset="-120"/>
              </a:rPr>
              <a:t>EU data processing</a:t>
            </a:r>
            <a:endParaRPr lang="en-US" sz="1600" dirty="0"/>
          </a:p>
        </p:txBody>
      </p:sp>
      <p:sp>
        <p:nvSpPr>
          <p:cNvPr id="9" name="Shape 7"/>
          <p:cNvSpPr/>
          <p:nvPr/>
        </p:nvSpPr>
        <p:spPr>
          <a:xfrm>
            <a:off x="7995692" y="1623665"/>
            <a:ext cx="3380333" cy="3257352"/>
          </a:xfrm>
          <a:prstGeom prst="roundRect">
            <a:avLst>
              <a:gd name="adj" fmla="val 2242"/>
            </a:avLst>
          </a:prstGeom>
          <a:solidFill>
            <a:srgbClr val="F9F7F2"/>
          </a:solidFill>
          <a:ln w="6350">
            <a:solidFill>
              <a:srgbClr val="D8D2C4"/>
            </a:solidFill>
            <a:prstDash val="solid"/>
          </a:ln>
        </p:spPr>
      </p:sp>
      <p:sp>
        <p:nvSpPr>
          <p:cNvPr id="10" name="Text 8"/>
          <p:cNvSpPr/>
          <p:nvPr/>
        </p:nvSpPr>
        <p:spPr>
          <a:xfrm>
            <a:off x="8303667" y="1931640"/>
            <a:ext cx="284731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416"/>
                </a:solidFill>
                <a:latin typeface="IBM Plex Mono" pitchFamily="34" charset="0"/>
                <a:ea typeface="IBM Plex Mono" pitchFamily="34" charset="-122"/>
                <a:cs typeface="IBM Plex Mono" pitchFamily="34" charset="-120"/>
              </a:rPr>
              <a:t>LATER</a:t>
            </a:r>
            <a:endParaRPr lang="en-US" sz="1200" dirty="0"/>
          </a:p>
        </p:txBody>
      </p:sp>
      <p:sp>
        <p:nvSpPr>
          <p:cNvPr id="11" name="Text 9"/>
          <p:cNvSpPr/>
          <p:nvPr/>
        </p:nvSpPr>
        <p:spPr>
          <a:xfrm>
            <a:off x="8303667" y="2297361"/>
            <a:ext cx="2847315" cy="1447701"/>
          </a:xfrm>
          <a:prstGeom prst="rect">
            <a:avLst/>
          </a:prstGeom>
          <a:noFill/>
          <a:ln/>
        </p:spPr>
        <p:txBody>
          <a:bodyPr wrap="square" lIns="0" tIns="0" rIns="0" bIns="0" rtlCol="0" anchor="t">
            <a:normAutofit/>
          </a:bodyPr>
          <a:lstStyle/>
          <a:p>
            <a:pPr algn="l" marL="243840" indent="-196342">
              <a:lnSpc>
                <a:spcPts val="2240"/>
              </a:lnSpc>
              <a:buSzPct val="100000"/>
              <a:buChar char="•"/>
            </a:pPr>
            <a:r>
              <a:rPr lang="en-US" sz="1600" dirty="0">
                <a:solidFill>
                  <a:srgbClr val="1C2B39"/>
                </a:solidFill>
                <a:latin typeface="IBM Plex Sans" pitchFamily="34" charset="0"/>
                <a:ea typeface="IBM Plex Sans" pitchFamily="34" charset="-122"/>
                <a:cs typeface="IBM Plex Sans" pitchFamily="34" charset="-120"/>
              </a:rPr>
              <a:t>Compare two contract versions</a:t>
            </a:r>
            <a:endParaRPr lang="en-US" sz="1600" dirty="0"/>
          </a:p>
          <a:p>
            <a:pPr algn="l" marL="243840" indent="-196342">
              <a:lnSpc>
                <a:spcPts val="2240"/>
              </a:lnSpc>
              <a:buSzPct val="100000"/>
              <a:buChar char="•"/>
            </a:pPr>
            <a:r>
              <a:rPr lang="en-US" sz="1600" dirty="0">
                <a:solidFill>
                  <a:srgbClr val="1C2B39"/>
                </a:solidFill>
                <a:latin typeface="IBM Plex Sans" pitchFamily="34" charset="0"/>
                <a:ea typeface="IBM Plex Sans" pitchFamily="34" charset="-122"/>
                <a:cs typeface="IBM Plex Sans" pitchFamily="34" charset="-120"/>
              </a:rPr>
              <a:t>Self-hosted option</a:t>
            </a:r>
            <a:endParaRPr lang="en-US" sz="1600" dirty="0"/>
          </a:p>
          <a:p>
            <a:pPr algn="l" marL="243840" indent="-196342">
              <a:lnSpc>
                <a:spcPts val="2240"/>
              </a:lnSpc>
              <a:buSzPct val="100000"/>
              <a:buChar char="•"/>
            </a:pPr>
            <a:r>
              <a:rPr lang="en-US" sz="1600" dirty="0">
                <a:solidFill>
                  <a:srgbClr val="1C2B39"/>
                </a:solidFill>
                <a:latin typeface="IBM Plex Sans" pitchFamily="34" charset="0"/>
                <a:ea typeface="IBM Plex Sans" pitchFamily="34" charset="-122"/>
                <a:cs typeface="IBM Plex Sans" pitchFamily="34" charset="-120"/>
              </a:rPr>
              <a:t>Smarter merging with human review</a:t>
            </a:r>
            <a:endParaRPr lang="en-US" sz="1600" dirty="0"/>
          </a:p>
        </p:txBody>
      </p:sp>
      <p:sp>
        <p:nvSpPr>
          <p:cNvPr id="12" name="Text 10"/>
          <p:cNvSpPr/>
          <p:nvPr/>
        </p:nvSpPr>
        <p:spPr>
          <a:xfrm>
            <a:off x="812800" y="6230640"/>
            <a:ext cx="87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clausemap</a:t>
            </a:r>
            <a:endParaRPr lang="en-US" sz="1200" dirty="0"/>
          </a:p>
        </p:txBody>
      </p:sp>
      <p:sp>
        <p:nvSpPr>
          <p:cNvPr id="13" name="Text 11"/>
          <p:cNvSpPr/>
          <p:nvPr/>
        </p:nvSpPr>
        <p:spPr>
          <a:xfrm>
            <a:off x="11196290" y="623064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25" kern="0" dirty="0">
                <a:solidFill>
                  <a:srgbClr val="1C2B39"/>
                </a:solidFill>
                <a:latin typeface="IBM Plex Sans" pitchFamily="34" charset="0"/>
                <a:ea typeface="IBM Plex Sans" pitchFamily="34" charset="-122"/>
                <a:cs typeface="IBM Plex Sans" pitchFamily="34" charset="-120"/>
              </a:rPr>
              <a:t>Built in a day with IBM Bob</a:t>
            </a:r>
            <a:endParaRPr lang="en-US" sz="3600" dirty="0"/>
          </a:p>
        </p:txBody>
      </p:sp>
      <p:sp>
        <p:nvSpPr>
          <p:cNvPr id="3" name="Text 1"/>
          <p:cNvSpPr/>
          <p:nvPr/>
        </p:nvSpPr>
        <p:spPr>
          <a:xfrm>
            <a:off x="812800" y="1620490"/>
            <a:ext cx="418592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2B39"/>
                </a:solidFill>
                <a:latin typeface="IBM Plex Sans" pitchFamily="34" charset="0"/>
                <a:ea typeface="IBM Plex Sans" pitchFamily="34" charset="-122"/>
                <a:cs typeface="IBM Plex Sans" pitchFamily="34" charset="-120"/>
              </a:rPr>
              <a:t>Two developers worked in parallel against one frozen JSON contract: one on the pipeline, one on the map.</a:t>
            </a:r>
            <a:endParaRPr lang="en-US" sz="1600" dirty="0"/>
          </a:p>
        </p:txBody>
      </p:sp>
      <p:sp>
        <p:nvSpPr>
          <p:cNvPr id="4" name="Text 2"/>
          <p:cNvSpPr/>
          <p:nvPr/>
        </p:nvSpPr>
        <p:spPr>
          <a:xfrm>
            <a:off x="812800" y="2677071"/>
            <a:ext cx="418592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0"/>
                </a:solidFill>
                <a:latin typeface="IBM Plex Sans" pitchFamily="34" charset="0"/>
                <a:ea typeface="IBM Plex Sans" pitchFamily="34" charset="-122"/>
                <a:cs typeface="IBM Plex Sans" pitchFamily="34" charset="-120"/>
              </a:rPr>
              <a:t>Extraction, quote verification, merging and the map UI were each built in IBM Bob sessions.</a:t>
            </a:r>
            <a:endParaRPr lang="en-US" sz="1600" dirty="0"/>
          </a:p>
        </p:txBody>
      </p:sp>
      <p:pic>
        <p:nvPicPr>
          <p:cNvPr id="5" name="Image 0" descr="line">    </p:cNvPr>
          <p:cNvPicPr>
            <a:picLocks noChangeAspect="1"/>
          </p:cNvPicPr>
          <p:nvPr/>
        </p:nvPicPr>
        <p:blipFill>
          <a:blip r:embed="rId1"/>
          <a:srcRect l="0" r="0" t="0" b="0"/>
          <a:stretch/>
        </p:blipFill>
        <p:spPr>
          <a:xfrm>
            <a:off x="812800" y="3733651"/>
            <a:ext cx="4064000" cy="12700"/>
          </a:xfrm>
          <a:prstGeom prst="rect">
            <a:avLst/>
          </a:prstGeom>
        </p:spPr>
      </p:pic>
      <p:sp>
        <p:nvSpPr>
          <p:cNvPr id="6" name="Text 3"/>
          <p:cNvSpPr/>
          <p:nvPr/>
        </p:nvSpPr>
        <p:spPr>
          <a:xfrm>
            <a:off x="812800" y="3949551"/>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4416"/>
                </a:solidFill>
                <a:latin typeface="IBM Plex Mono" pitchFamily="34" charset="0"/>
                <a:ea typeface="IBM Plex Mono" pitchFamily="34" charset="-122"/>
                <a:cs typeface="IBM Plex Mono" pitchFamily="34" charset="-120"/>
              </a:rPr>
              <a:t>TEAM</a:t>
            </a:r>
            <a:endParaRPr lang="en-US" sz="1200" dirty="0"/>
          </a:p>
        </p:txBody>
      </p:sp>
      <p:sp>
        <p:nvSpPr>
          <p:cNvPr id="7" name="Text 4"/>
          <p:cNvSpPr/>
          <p:nvPr/>
        </p:nvSpPr>
        <p:spPr>
          <a:xfrm>
            <a:off x="812800" y="4366071"/>
            <a:ext cx="418592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2B39"/>
                </a:solidFill>
                <a:latin typeface="IBM Plex Sans" pitchFamily="34" charset="0"/>
                <a:ea typeface="IBM Plex Sans" pitchFamily="34" charset="-122"/>
                <a:cs typeface="IBM Plex Sans" pitchFamily="34" charset="-120"/>
              </a:rPr>
              <a:t>Setare</a:t>
            </a:r>
            <a:r>
              <a:rPr lang="en-US" sz="1600" dirty="0">
                <a:solidFill>
                  <a:srgbClr val="1C2B39"/>
                </a:solidFill>
                <a:latin typeface="IBM Plex Sans" pitchFamily="34" charset="0"/>
                <a:ea typeface="IBM Plex Sans" pitchFamily="34" charset="-122"/>
                <a:cs typeface="IBM Plex Sans" pitchFamily="34" charset="-120"/>
              </a:rPr>
              <a:t> </a:t>
            </a:r>
            <a:r>
              <a:rPr lang="en-US" sz="1600" dirty="0">
                <a:solidFill>
                  <a:srgbClr val="5B6570"/>
                </a:solidFill>
                <a:latin typeface="IBM Plex Sans" pitchFamily="34" charset="0"/>
                <a:ea typeface="IBM Plex Sans" pitchFamily="34" charset="-122"/>
                <a:cs typeface="IBM Plex Sans" pitchFamily="34" charset="-120"/>
              </a:rPr>
              <a:t>[role]</a:t>
            </a:r>
            <a:endParaRPr lang="en-US" sz="1600" dirty="0"/>
          </a:p>
          <a:p>
            <a:pPr algn="l" indent="0" marL="0">
              <a:lnSpc>
                <a:spcPts val="2240"/>
              </a:lnSpc>
              <a:buNone/>
            </a:pPr>
            <a:r>
              <a:rPr lang="en-US" sz="1600" b="1" dirty="0">
                <a:solidFill>
                  <a:srgbClr val="1C2B39"/>
                </a:solidFill>
                <a:latin typeface="IBM Plex Sans" pitchFamily="34" charset="0"/>
                <a:ea typeface="IBM Plex Sans" pitchFamily="34" charset="-122"/>
                <a:cs typeface="IBM Plex Sans" pitchFamily="34" charset="-120"/>
              </a:rPr>
              <a:t>[Teammate]</a:t>
            </a:r>
            <a:r>
              <a:rPr lang="en-US" sz="1600" dirty="0">
                <a:solidFill>
                  <a:srgbClr val="1C2B39"/>
                </a:solidFill>
                <a:latin typeface="IBM Plex Sans" pitchFamily="34" charset="0"/>
                <a:ea typeface="IBM Plex Sans" pitchFamily="34" charset="-122"/>
                <a:cs typeface="IBM Plex Sans" pitchFamily="34" charset="-120"/>
              </a:rPr>
              <a:t> </a:t>
            </a:r>
            <a:r>
              <a:rPr lang="en-US" sz="1600" dirty="0">
                <a:solidFill>
                  <a:srgbClr val="5B6570"/>
                </a:solidFill>
                <a:latin typeface="IBM Plex Sans" pitchFamily="34" charset="0"/>
                <a:ea typeface="IBM Plex Sans" pitchFamily="34" charset="-122"/>
                <a:cs typeface="IBM Plex Sans" pitchFamily="34" charset="-120"/>
              </a:rPr>
              <a:t>[role]</a:t>
            </a:r>
            <a:endParaRPr lang="en-US" sz="1600" dirty="0"/>
          </a:p>
        </p:txBody>
      </p:sp>
      <p:sp>
        <p:nvSpPr>
          <p:cNvPr id="8" name="Shape 5"/>
          <p:cNvSpPr/>
          <p:nvPr/>
        </p:nvSpPr>
        <p:spPr>
          <a:xfrm>
            <a:off x="5391150" y="1626840"/>
            <a:ext cx="2908300" cy="1638300"/>
          </a:xfrm>
          <a:prstGeom prst="roundRect">
            <a:avLst>
              <a:gd name="adj" fmla="val 4264"/>
            </a:avLst>
          </a:prstGeom>
          <a:noFill/>
          <a:ln w="12700">
            <a:solidFill>
              <a:srgbClr val="B9B4A8"/>
            </a:solidFill>
            <a:prstDash val="dash"/>
          </a:ln>
        </p:spPr>
      </p:sp>
      <p:sp>
        <p:nvSpPr>
          <p:cNvPr id="9" name="Text 6"/>
          <p:cNvSpPr/>
          <p:nvPr/>
        </p:nvSpPr>
        <p:spPr>
          <a:xfrm>
            <a:off x="5877620" y="2339330"/>
            <a:ext cx="19934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Sans" pitchFamily="34" charset="0"/>
                <a:ea typeface="IBM Plex Sans" pitchFamily="34" charset="-122"/>
                <a:cs typeface="IBM Plex Sans" pitchFamily="34" charset="-120"/>
              </a:rPr>
              <a:t>[Bob screenshot: extraction]</a:t>
            </a:r>
            <a:endParaRPr lang="en-US" sz="1200" dirty="0"/>
          </a:p>
        </p:txBody>
      </p:sp>
      <p:sp>
        <p:nvSpPr>
          <p:cNvPr id="10" name="Shape 7"/>
          <p:cNvSpPr/>
          <p:nvPr/>
        </p:nvSpPr>
        <p:spPr>
          <a:xfrm>
            <a:off x="8464550" y="1626840"/>
            <a:ext cx="2908300" cy="1638300"/>
          </a:xfrm>
          <a:prstGeom prst="roundRect">
            <a:avLst>
              <a:gd name="adj" fmla="val 4264"/>
            </a:avLst>
          </a:prstGeom>
          <a:noFill/>
          <a:ln w="12700">
            <a:solidFill>
              <a:srgbClr val="B9B4A8"/>
            </a:solidFill>
            <a:prstDash val="dash"/>
          </a:ln>
        </p:spPr>
      </p:sp>
      <p:sp>
        <p:nvSpPr>
          <p:cNvPr id="11" name="Text 8"/>
          <p:cNvSpPr/>
          <p:nvPr/>
        </p:nvSpPr>
        <p:spPr>
          <a:xfrm>
            <a:off x="8916045" y="2339330"/>
            <a:ext cx="20654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Sans" pitchFamily="34" charset="0"/>
                <a:ea typeface="IBM Plex Sans" pitchFamily="34" charset="-122"/>
                <a:cs typeface="IBM Plex Sans" pitchFamily="34" charset="-120"/>
              </a:rPr>
              <a:t>[Bob screenshot: verification]</a:t>
            </a:r>
            <a:endParaRPr lang="en-US" sz="1200" dirty="0"/>
          </a:p>
        </p:txBody>
      </p:sp>
      <p:sp>
        <p:nvSpPr>
          <p:cNvPr id="12" name="Shape 9"/>
          <p:cNvSpPr/>
          <p:nvPr/>
        </p:nvSpPr>
        <p:spPr>
          <a:xfrm>
            <a:off x="5391150" y="3430240"/>
            <a:ext cx="2908300" cy="1638300"/>
          </a:xfrm>
          <a:prstGeom prst="roundRect">
            <a:avLst>
              <a:gd name="adj" fmla="val 4264"/>
            </a:avLst>
          </a:prstGeom>
          <a:noFill/>
          <a:ln w="12700">
            <a:solidFill>
              <a:srgbClr val="B9B4A8"/>
            </a:solidFill>
            <a:prstDash val="dash"/>
          </a:ln>
        </p:spPr>
      </p:sp>
      <p:sp>
        <p:nvSpPr>
          <p:cNvPr id="13" name="Text 10"/>
          <p:cNvSpPr/>
          <p:nvPr/>
        </p:nvSpPr>
        <p:spPr>
          <a:xfrm>
            <a:off x="5944592" y="4142730"/>
            <a:ext cx="18554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Sans" pitchFamily="34" charset="0"/>
                <a:ea typeface="IBM Plex Sans" pitchFamily="34" charset="-122"/>
                <a:cs typeface="IBM Plex Sans" pitchFamily="34" charset="-120"/>
              </a:rPr>
              <a:t>[Bob screenshot: merging]</a:t>
            </a:r>
            <a:endParaRPr lang="en-US" sz="1200" dirty="0"/>
          </a:p>
        </p:txBody>
      </p:sp>
      <p:sp>
        <p:nvSpPr>
          <p:cNvPr id="14" name="Shape 11"/>
          <p:cNvSpPr/>
          <p:nvPr/>
        </p:nvSpPr>
        <p:spPr>
          <a:xfrm>
            <a:off x="8464550" y="3430240"/>
            <a:ext cx="2908300" cy="1638300"/>
          </a:xfrm>
          <a:prstGeom prst="roundRect">
            <a:avLst>
              <a:gd name="adj" fmla="val 4264"/>
            </a:avLst>
          </a:prstGeom>
          <a:noFill/>
          <a:ln w="12700">
            <a:solidFill>
              <a:srgbClr val="B9B4A8"/>
            </a:solidFill>
            <a:prstDash val="dash"/>
          </a:ln>
        </p:spPr>
      </p:sp>
      <p:sp>
        <p:nvSpPr>
          <p:cNvPr id="15" name="Text 12"/>
          <p:cNvSpPr/>
          <p:nvPr/>
        </p:nvSpPr>
        <p:spPr>
          <a:xfrm>
            <a:off x="9044186" y="4142730"/>
            <a:ext cx="18014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Sans" pitchFamily="34" charset="0"/>
                <a:ea typeface="IBM Plex Sans" pitchFamily="34" charset="-122"/>
                <a:cs typeface="IBM Plex Sans" pitchFamily="34" charset="-120"/>
              </a:rPr>
              <a:t>[Bob screenshot: map UI]</a:t>
            </a:r>
            <a:endParaRPr lang="en-US" sz="1200" dirty="0"/>
          </a:p>
        </p:txBody>
      </p:sp>
      <p:sp>
        <p:nvSpPr>
          <p:cNvPr id="16" name="Text 13"/>
          <p:cNvSpPr/>
          <p:nvPr/>
        </p:nvSpPr>
        <p:spPr>
          <a:xfrm>
            <a:off x="812800" y="6230640"/>
            <a:ext cx="87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clausemap</a:t>
            </a:r>
            <a:endParaRPr lang="en-US" sz="1200" dirty="0"/>
          </a:p>
        </p:txBody>
      </p:sp>
      <p:sp>
        <p:nvSpPr>
          <p:cNvPr id="17" name="Text 14"/>
          <p:cNvSpPr/>
          <p:nvPr/>
        </p:nvSpPr>
        <p:spPr>
          <a:xfrm>
            <a:off x="11196290" y="623064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Mono" pitchFamily="34" charset="0"/>
                <a:ea typeface="IBM Plex Mono" pitchFamily="34" charset="-122"/>
                <a:cs typeface="IBM Plex Mon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C2B39"/>
        </a:solidFill>
      </p:bgPr>
    </p:bg>
    <p:spTree>
      <p:nvGrpSpPr>
        <p:cNvPr id="1" name=""/>
        <p:cNvGrpSpPr/>
        <p:nvPr/>
      </p:nvGrpSpPr>
      <p:grpSpPr>
        <a:xfrm>
          <a:off x="0" y="0"/>
          <a:ext cx="0" cy="0"/>
          <a:chOff x="0" y="0"/>
          <a:chExt cx="0" cy="0"/>
        </a:xfrm>
      </p:grpSpPr>
      <p:pic>
        <p:nvPicPr>
          <p:cNvPr id="2" name="Image 0" descr="Clausemap trig mark">    </p:cNvPr>
          <p:cNvPicPr>
            <a:picLocks noChangeAspect="1"/>
          </p:cNvPicPr>
          <p:nvPr/>
        </p:nvPicPr>
        <p:blipFill>
          <a:blip r:embed="rId1"/>
          <a:srcRect l="0" r="0" t="0" b="0"/>
          <a:stretch/>
        </p:blipFill>
        <p:spPr>
          <a:xfrm>
            <a:off x="812800" y="855960"/>
            <a:ext cx="355600" cy="304800"/>
          </a:xfrm>
          <a:prstGeom prst="rect">
            <a:avLst/>
          </a:prstGeom>
        </p:spPr>
      </p:pic>
      <p:sp>
        <p:nvSpPr>
          <p:cNvPr id="3" name="Text 0"/>
          <p:cNvSpPr/>
          <p:nvPr/>
        </p:nvSpPr>
        <p:spPr>
          <a:xfrm>
            <a:off x="1295400" y="812800"/>
            <a:ext cx="1435050" cy="416520"/>
          </a:xfrm>
          <a:prstGeom prst="rect">
            <a:avLst/>
          </a:prstGeom>
          <a:noFill/>
          <a:ln/>
        </p:spPr>
        <p:txBody>
          <a:bodyPr wrap="square" lIns="0" tIns="0" rIns="0" bIns="0" rtlCol="0" anchor="t">
            <a:normAutofit/>
          </a:bodyPr>
          <a:lstStyle/>
          <a:p>
            <a:pPr algn="l" indent="0" marL="0">
              <a:lnSpc>
                <a:spcPts val="3080"/>
              </a:lnSpc>
              <a:buNone/>
            </a:pPr>
            <a:r>
              <a:rPr lang="en-US" sz="2200" b="1" spc="-25" kern="0" dirty="0">
                <a:solidFill>
                  <a:srgbClr val="F6F3EC"/>
                </a:solidFill>
                <a:latin typeface="IBM Plex Sans" pitchFamily="34" charset="0"/>
                <a:ea typeface="IBM Plex Sans" pitchFamily="34" charset="-122"/>
                <a:cs typeface="IBM Plex Sans" pitchFamily="34" charset="-120"/>
              </a:rPr>
              <a:t>clausemap</a:t>
            </a:r>
            <a:endParaRPr lang="en-US" sz="2200" dirty="0"/>
          </a:p>
        </p:txBody>
      </p:sp>
      <p:sp>
        <p:nvSpPr>
          <p:cNvPr id="4" name="Text 1"/>
          <p:cNvSpPr/>
          <p:nvPr/>
        </p:nvSpPr>
        <p:spPr>
          <a:xfrm>
            <a:off x="812800" y="2683520"/>
            <a:ext cx="10883392" cy="1358900"/>
          </a:xfrm>
          <a:prstGeom prst="rect">
            <a:avLst/>
          </a:prstGeom>
          <a:noFill/>
          <a:ln/>
        </p:spPr>
        <p:txBody>
          <a:bodyPr wrap="square" lIns="0" tIns="0" rIns="0" bIns="0" rtlCol="0" anchor="t">
            <a:normAutofit/>
          </a:bodyPr>
          <a:lstStyle/>
          <a:p>
            <a:pPr algn="l" indent="0" marL="0">
              <a:lnSpc>
                <a:spcPts val="5250"/>
              </a:lnSpc>
              <a:buNone/>
            </a:pPr>
            <a:r>
              <a:rPr lang="en-US" sz="5000" b="1" spc="-50" kern="0" dirty="0">
                <a:solidFill>
                  <a:srgbClr val="F6F3EC"/>
                </a:solidFill>
                <a:latin typeface="IBM Plex Sans" pitchFamily="34" charset="0"/>
                <a:ea typeface="IBM Plex Sans" pitchFamily="34" charset="-122"/>
                <a:cs typeface="IBM Plex Sans" pitchFamily="34" charset="-120"/>
              </a:rPr>
              <a:t>See the whole deal.</a:t>
            </a:r>
            <a:endParaRPr lang="en-US" sz="5000" dirty="0"/>
          </a:p>
          <a:p>
            <a:pPr algn="l" indent="0" marL="0">
              <a:lnSpc>
                <a:spcPts val="5250"/>
              </a:lnSpc>
              <a:buNone/>
            </a:pPr>
            <a:r>
              <a:rPr lang="en-US" sz="5000" b="1" spc="-50" kern="0" dirty="0">
                <a:solidFill>
                  <a:srgbClr val="F6F3EC"/>
                </a:solidFill>
                <a:latin typeface="IBM Plex Sans" pitchFamily="34" charset="0"/>
                <a:ea typeface="IBM Plex Sans" pitchFamily="34" charset="-122"/>
                <a:cs typeface="IBM Plex Sans" pitchFamily="34" charset="-120"/>
              </a:rPr>
              <a:t>Cite every line.</a:t>
            </a:r>
            <a:endParaRPr lang="en-US" sz="5000" dirty="0"/>
          </a:p>
        </p:txBody>
      </p:sp>
      <p:sp>
        <p:nvSpPr>
          <p:cNvPr id="5" name="Text 2"/>
          <p:cNvSpPr/>
          <p:nvPr/>
        </p:nvSpPr>
        <p:spPr>
          <a:xfrm>
            <a:off x="812800" y="5496620"/>
            <a:ext cx="12700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A7B3"/>
                </a:solidFill>
                <a:latin typeface="IBM Plex Mono" pitchFamily="34" charset="0"/>
                <a:ea typeface="IBM Plex Mono" pitchFamily="34" charset="-122"/>
                <a:cs typeface="IBM Plex Mono" pitchFamily="34" charset="-120"/>
              </a:rPr>
              <a:t>TRY IT</a:t>
            </a:r>
            <a:endParaRPr lang="en-US" sz="1200" dirty="0"/>
          </a:p>
        </p:txBody>
      </p:sp>
      <p:sp>
        <p:nvSpPr>
          <p:cNvPr id="6" name="Text 3"/>
          <p:cNvSpPr/>
          <p:nvPr/>
        </p:nvSpPr>
        <p:spPr>
          <a:xfrm>
            <a:off x="812800" y="5760740"/>
            <a:ext cx="1270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3EC"/>
                </a:solidFill>
                <a:latin typeface="IBM Plex Mono" pitchFamily="34" charset="0"/>
                <a:ea typeface="IBM Plex Mono" pitchFamily="34" charset="-122"/>
                <a:cs typeface="IBM Plex Mono" pitchFamily="34" charset="-120"/>
              </a:rPr>
              <a:t>[demo URL]</a:t>
            </a:r>
            <a:endParaRPr lang="en-US" sz="1600" dirty="0"/>
          </a:p>
        </p:txBody>
      </p:sp>
      <p:sp>
        <p:nvSpPr>
          <p:cNvPr id="7" name="Text 4"/>
          <p:cNvSpPr/>
          <p:nvPr/>
        </p:nvSpPr>
        <p:spPr>
          <a:xfrm>
            <a:off x="2844800" y="5496620"/>
            <a:ext cx="12700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A7B3"/>
                </a:solidFill>
                <a:latin typeface="IBM Plex Mono" pitchFamily="34" charset="0"/>
                <a:ea typeface="IBM Plex Mono" pitchFamily="34" charset="-122"/>
                <a:cs typeface="IBM Plex Mono" pitchFamily="34" charset="-120"/>
              </a:rPr>
              <a:t>CODE</a:t>
            </a:r>
            <a:endParaRPr lang="en-US" sz="1200" dirty="0"/>
          </a:p>
        </p:txBody>
      </p:sp>
      <p:sp>
        <p:nvSpPr>
          <p:cNvPr id="8" name="Text 5"/>
          <p:cNvSpPr/>
          <p:nvPr/>
        </p:nvSpPr>
        <p:spPr>
          <a:xfrm>
            <a:off x="2844800" y="5760740"/>
            <a:ext cx="1270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3EC"/>
                </a:solidFill>
                <a:latin typeface="IBM Plex Mono" pitchFamily="34" charset="0"/>
                <a:ea typeface="IBM Plex Mono" pitchFamily="34" charset="-122"/>
                <a:cs typeface="IBM Plex Mono" pitchFamily="34" charset="-120"/>
              </a:rPr>
              <a:t>[repo URL]</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Clausemap pitch deck</dc:title>
  <dc:subject>PptxGenJS Presentation</dc:subject>
  <dc:creator>PptxGenJS</dc:creator>
  <cp:lastModifiedBy>PptxGenJS</cp:lastModifiedBy>
  <cp:revision>1</cp:revision>
  <dcterms:created xsi:type="dcterms:W3CDTF">2026-09-27T13:45:12Z</dcterms:created>
  <dcterms:modified xsi:type="dcterms:W3CDTF">2026-09-27T13:45:12Z</dcterms:modified>
</cp:coreProperties>
</file>